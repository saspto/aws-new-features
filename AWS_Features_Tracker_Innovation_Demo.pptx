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23619"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238"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0857"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094476"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18095"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1714"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65333"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188952"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005840"/>
            <a:ext cx="658368" cy="43891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024128"/>
            <a:ext cx="603504" cy="402336"/>
          </a:xfrm>
          <a:prstGeom prst="rect">
            <a:avLst/>
          </a:prstGeom>
          <a:noFill/>
        </p:spPr>
        <p:txBody>
          <a:bodyPr wrap="square">
            <a:spAutoFit/>
          </a:bodyPr>
          <a:lstStyle/>
          <a:p>
            <a:pPr algn="ctr"/>
            <a:r>
              <a:rPr sz="2200" b="1" i="0">
                <a:solidFill>
                  <a:srgbClr val="232F3E"/>
                </a:solidFill>
              </a:rPr>
              <a:t>aws</a:t>
            </a:r>
          </a:p>
        </p:txBody>
      </p:sp>
      <p:sp>
        <p:nvSpPr>
          <p:cNvPr id="14" name="TextBox 13"/>
          <p:cNvSpPr txBox="1"/>
          <p:nvPr/>
        </p:nvSpPr>
        <p:spPr>
          <a:xfrm>
            <a:off x="594360" y="1572768"/>
            <a:ext cx="9144000" cy="502920"/>
          </a:xfrm>
          <a:prstGeom prst="rect">
            <a:avLst/>
          </a:prstGeom>
          <a:noFill/>
        </p:spPr>
        <p:txBody>
          <a:bodyPr wrap="square">
            <a:spAutoFit/>
          </a:bodyPr>
          <a:lstStyle/>
          <a:p>
            <a:pPr algn="l"/>
            <a:r>
              <a:rPr sz="1100" b="1" i="0">
                <a:solidFill>
                  <a:srgbClr val="FF9900"/>
                </a:solidFill>
              </a:rPr>
              <a:t>INNOVATION DEMO  ·  AWS ADMINISTRATION TEAM</a:t>
            </a:r>
          </a:p>
        </p:txBody>
      </p:sp>
      <p:sp>
        <p:nvSpPr>
          <p:cNvPr id="15" name="TextBox 14"/>
          <p:cNvSpPr txBox="1"/>
          <p:nvPr/>
        </p:nvSpPr>
        <p:spPr>
          <a:xfrm>
            <a:off x="594360" y="2194560"/>
            <a:ext cx="9144000" cy="960120"/>
          </a:xfrm>
          <a:prstGeom prst="rect">
            <a:avLst/>
          </a:prstGeom>
          <a:noFill/>
        </p:spPr>
        <p:txBody>
          <a:bodyPr wrap="square">
            <a:spAutoFit/>
          </a:bodyPr>
          <a:lstStyle/>
          <a:p>
            <a:pPr algn="l"/>
            <a:r>
              <a:rPr sz="5200" b="1" i="0">
                <a:solidFill>
                  <a:srgbClr val="FFFFFF"/>
                </a:solidFill>
              </a:rPr>
              <a:t>AWS Features Tracker</a:t>
            </a:r>
          </a:p>
        </p:txBody>
      </p:sp>
      <p:sp>
        <p:nvSpPr>
          <p:cNvPr id="16" name="TextBox 15"/>
          <p:cNvSpPr txBox="1"/>
          <p:nvPr/>
        </p:nvSpPr>
        <p:spPr>
          <a:xfrm>
            <a:off x="594360" y="3218688"/>
            <a:ext cx="8686800" cy="502920"/>
          </a:xfrm>
          <a:prstGeom prst="rect">
            <a:avLst/>
          </a:prstGeom>
          <a:noFill/>
        </p:spPr>
        <p:txBody>
          <a:bodyPr wrap="square">
            <a:spAutoFit/>
          </a:bodyPr>
          <a:lstStyle/>
          <a:p>
            <a:pPr algn="l"/>
            <a:r>
              <a:rPr sz="2200" b="0" i="1">
                <a:solidFill>
                  <a:srgbClr val="CBD5E1"/>
                </a:solidFill>
              </a:rPr>
              <a:t>AI-Powered Discovery, Summarization &amp; Search of AWS Announcements</a:t>
            </a:r>
          </a:p>
        </p:txBody>
      </p:sp>
      <p:sp>
        <p:nvSpPr>
          <p:cNvPr id="17" name="Rectangle 16"/>
          <p:cNvSpPr/>
          <p:nvPr/>
        </p:nvSpPr>
        <p:spPr>
          <a:xfrm>
            <a:off x="594360" y="3931920"/>
            <a:ext cx="2743200" cy="36576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941063"/>
            <a:ext cx="2743200" cy="347472"/>
          </a:xfrm>
          <a:prstGeom prst="rect">
            <a:avLst/>
          </a:prstGeom>
          <a:noFill/>
        </p:spPr>
        <p:txBody>
          <a:bodyPr wrap="square">
            <a:spAutoFit/>
          </a:bodyPr>
          <a:lstStyle/>
          <a:p>
            <a:pPr algn="ctr"/>
            <a:r>
              <a:rPr sz="1200" b="1" i="0">
                <a:solidFill>
                  <a:srgbClr val="FFFFFF"/>
                </a:solidFill>
              </a:rPr>
              <a:t>Real-time RSS ingestion</a:t>
            </a:r>
          </a:p>
        </p:txBody>
      </p:sp>
      <p:sp>
        <p:nvSpPr>
          <p:cNvPr id="19" name="Rectangle 18"/>
          <p:cNvSpPr/>
          <p:nvPr/>
        </p:nvSpPr>
        <p:spPr>
          <a:xfrm>
            <a:off x="3611879" y="3931920"/>
            <a:ext cx="2743200" cy="36576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79" y="3941063"/>
            <a:ext cx="2743200" cy="347472"/>
          </a:xfrm>
          <a:prstGeom prst="rect">
            <a:avLst/>
          </a:prstGeom>
          <a:noFill/>
        </p:spPr>
        <p:txBody>
          <a:bodyPr wrap="square">
            <a:spAutoFit/>
          </a:bodyPr>
          <a:lstStyle/>
          <a:p>
            <a:pPr algn="ctr"/>
            <a:r>
              <a:rPr sz="1200" b="1" i="0">
                <a:solidFill>
                  <a:srgbClr val="FFFFFF"/>
                </a:solidFill>
              </a:rPr>
              <a:t>Claude Haiku AI summaries</a:t>
            </a:r>
          </a:p>
        </p:txBody>
      </p:sp>
      <p:sp>
        <p:nvSpPr>
          <p:cNvPr id="21" name="Rectangle 20"/>
          <p:cNvSpPr/>
          <p:nvPr/>
        </p:nvSpPr>
        <p:spPr>
          <a:xfrm>
            <a:off x="6629400" y="3931920"/>
            <a:ext cx="2743200" cy="36576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3941063"/>
            <a:ext cx="2743200" cy="347472"/>
          </a:xfrm>
          <a:prstGeom prst="rect">
            <a:avLst/>
          </a:prstGeom>
          <a:noFill/>
        </p:spPr>
        <p:txBody>
          <a:bodyPr wrap="square">
            <a:spAutoFit/>
          </a:bodyPr>
          <a:lstStyle/>
          <a:p>
            <a:pPr algn="ctr"/>
            <a:r>
              <a:rPr sz="1200" b="1" i="0">
                <a:solidFill>
                  <a:srgbClr val="FFFFFF"/>
                </a:solidFill>
              </a:rPr>
              <a:t>Searchable web app</a:t>
            </a:r>
          </a:p>
        </p:txBody>
      </p:sp>
      <p:sp>
        <p:nvSpPr>
          <p:cNvPr id="23" name="Rectangle 22"/>
          <p:cNvSpPr/>
          <p:nvPr/>
        </p:nvSpPr>
        <p:spPr>
          <a:xfrm>
            <a:off x="0" y="6400800"/>
            <a:ext cx="12188952" cy="457200"/>
          </a:xfrm>
          <a:prstGeom prst="rect">
            <a:avLst/>
          </a:prstGeom>
          <a:solidFill>
            <a:srgbClr val="142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0" y="6437376"/>
            <a:ext cx="12188952" cy="384048"/>
          </a:xfrm>
          <a:prstGeom prst="rect">
            <a:avLst/>
          </a:prstGeom>
          <a:noFill/>
        </p:spPr>
        <p:txBody>
          <a:bodyPr wrap="square">
            <a:spAutoFit/>
          </a:bodyPr>
          <a:lstStyle/>
          <a:p>
            <a:pPr algn="ctr"/>
            <a:r>
              <a:rPr sz="1000" b="0" i="0">
                <a:solidFill>
                  <a:srgbClr val="94A3B8"/>
                </a:solidFill>
              </a:rPr>
              <a:t>Presented by the Cloud Administration Team  ·  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01168"/>
            <a:ext cx="9144000" cy="512064"/>
          </a:xfrm>
          <a:prstGeom prst="rect">
            <a:avLst/>
          </a:prstGeom>
          <a:noFill/>
        </p:spPr>
        <p:txBody>
          <a:bodyPr wrap="square">
            <a:spAutoFit/>
          </a:bodyPr>
          <a:lstStyle/>
          <a:p>
            <a:pPr algn="l"/>
            <a:r>
              <a:rPr sz="2800" b="1" i="0">
                <a:solidFill>
                  <a:srgbClr val="FFFFFF"/>
                </a:solidFill>
              </a:rPr>
              <a:t>The Challenge: Staying Ahead of AWS Innovation</a:t>
            </a:r>
          </a:p>
        </p:txBody>
      </p:sp>
      <p:sp>
        <p:nvSpPr>
          <p:cNvPr id="6" name="TextBox 5"/>
          <p:cNvSpPr txBox="1"/>
          <p:nvPr/>
        </p:nvSpPr>
        <p:spPr>
          <a:xfrm>
            <a:off x="502920" y="685800"/>
            <a:ext cx="9144000" cy="256032"/>
          </a:xfrm>
          <a:prstGeom prst="rect">
            <a:avLst/>
          </a:prstGeom>
          <a:noFill/>
        </p:spPr>
        <p:txBody>
          <a:bodyPr wrap="square">
            <a:spAutoFit/>
          </a:bodyPr>
          <a:lstStyle/>
          <a:p>
            <a:pPr algn="l"/>
            <a:r>
              <a:rPr sz="1300" b="0" i="1">
                <a:solidFill>
                  <a:srgbClr val="FF9900"/>
                </a:solidFill>
              </a:rPr>
              <a:t>AWS releases 2,000+ new features per year — how do admins keep up?</a:t>
            </a:r>
          </a:p>
        </p:txBody>
      </p:sp>
      <p:sp>
        <p:nvSpPr>
          <p:cNvPr id="7" name="Rectangle 6"/>
          <p:cNvSpPr/>
          <p:nvPr/>
        </p:nvSpPr>
        <p:spPr>
          <a:xfrm>
            <a:off x="502920" y="1143000"/>
            <a:ext cx="265176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34440"/>
            <a:ext cx="2651760" cy="658368"/>
          </a:xfrm>
          <a:prstGeom prst="rect">
            <a:avLst/>
          </a:prstGeom>
          <a:noFill/>
        </p:spPr>
        <p:txBody>
          <a:bodyPr wrap="square">
            <a:spAutoFit/>
          </a:bodyPr>
          <a:lstStyle/>
          <a:p>
            <a:pPr algn="ctr"/>
            <a:r>
              <a:rPr sz="3600" b="1" i="0">
                <a:solidFill>
                  <a:srgbClr val="FF9900"/>
                </a:solidFill>
              </a:rPr>
              <a:t>2,000+</a:t>
            </a:r>
          </a:p>
        </p:txBody>
      </p:sp>
      <p:sp>
        <p:nvSpPr>
          <p:cNvPr id="9" name="TextBox 8"/>
          <p:cNvSpPr txBox="1"/>
          <p:nvPr/>
        </p:nvSpPr>
        <p:spPr>
          <a:xfrm>
            <a:off x="502920" y="1874519"/>
            <a:ext cx="2651760" cy="530352"/>
          </a:xfrm>
          <a:prstGeom prst="rect">
            <a:avLst/>
          </a:prstGeom>
          <a:noFill/>
        </p:spPr>
        <p:txBody>
          <a:bodyPr wrap="square">
            <a:spAutoFit/>
          </a:bodyPr>
          <a:lstStyle/>
          <a:p>
            <a:pPr algn="ctr"/>
            <a:r>
              <a:rPr sz="1200" b="0" i="0">
                <a:solidFill>
                  <a:srgbClr val="1E293B"/>
                </a:solidFill>
              </a:rPr>
              <a:t>new AWS
features/year</a:t>
            </a:r>
          </a:p>
        </p:txBody>
      </p:sp>
      <p:sp>
        <p:nvSpPr>
          <p:cNvPr id="10" name="Rectangle 9"/>
          <p:cNvSpPr/>
          <p:nvPr/>
        </p:nvSpPr>
        <p:spPr>
          <a:xfrm>
            <a:off x="3355848" y="1143000"/>
            <a:ext cx="265176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55848" y="1234440"/>
            <a:ext cx="2651760" cy="658368"/>
          </a:xfrm>
          <a:prstGeom prst="rect">
            <a:avLst/>
          </a:prstGeom>
          <a:noFill/>
        </p:spPr>
        <p:txBody>
          <a:bodyPr wrap="square">
            <a:spAutoFit/>
          </a:bodyPr>
          <a:lstStyle/>
          <a:p>
            <a:pPr algn="ctr"/>
            <a:r>
              <a:rPr sz="3600" b="1" i="0">
                <a:solidFill>
                  <a:srgbClr val="FF9900"/>
                </a:solidFill>
              </a:rPr>
              <a:t>~5 min</a:t>
            </a:r>
          </a:p>
        </p:txBody>
      </p:sp>
      <p:sp>
        <p:nvSpPr>
          <p:cNvPr id="12" name="TextBox 11"/>
          <p:cNvSpPr txBox="1"/>
          <p:nvPr/>
        </p:nvSpPr>
        <p:spPr>
          <a:xfrm>
            <a:off x="3355848" y="1874519"/>
            <a:ext cx="2651760" cy="530352"/>
          </a:xfrm>
          <a:prstGeom prst="rect">
            <a:avLst/>
          </a:prstGeom>
          <a:noFill/>
        </p:spPr>
        <p:txBody>
          <a:bodyPr wrap="square">
            <a:spAutoFit/>
          </a:bodyPr>
          <a:lstStyle/>
          <a:p>
            <a:pPr algn="ctr"/>
            <a:r>
              <a:rPr sz="1200" b="0" i="0">
                <a:solidFill>
                  <a:srgbClr val="1E293B"/>
                </a:solidFill>
              </a:rPr>
              <a:t>avg time to
read each post</a:t>
            </a:r>
          </a:p>
        </p:txBody>
      </p:sp>
      <p:sp>
        <p:nvSpPr>
          <p:cNvPr id="13" name="Rectangle 12"/>
          <p:cNvSpPr/>
          <p:nvPr/>
        </p:nvSpPr>
        <p:spPr>
          <a:xfrm>
            <a:off x="6208776" y="1143000"/>
            <a:ext cx="265176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08776" y="1234440"/>
            <a:ext cx="2651760" cy="658368"/>
          </a:xfrm>
          <a:prstGeom prst="rect">
            <a:avLst/>
          </a:prstGeom>
          <a:noFill/>
        </p:spPr>
        <p:txBody>
          <a:bodyPr wrap="square">
            <a:spAutoFit/>
          </a:bodyPr>
          <a:lstStyle/>
          <a:p>
            <a:pPr algn="ctr"/>
            <a:r>
              <a:rPr sz="3600" b="1" i="0">
                <a:solidFill>
                  <a:srgbClr val="FF9900"/>
                </a:solidFill>
              </a:rPr>
              <a:t>166 hrs</a:t>
            </a:r>
          </a:p>
        </p:txBody>
      </p:sp>
      <p:sp>
        <p:nvSpPr>
          <p:cNvPr id="15" name="TextBox 14"/>
          <p:cNvSpPr txBox="1"/>
          <p:nvPr/>
        </p:nvSpPr>
        <p:spPr>
          <a:xfrm>
            <a:off x="6208776" y="1874519"/>
            <a:ext cx="2651760" cy="530352"/>
          </a:xfrm>
          <a:prstGeom prst="rect">
            <a:avLst/>
          </a:prstGeom>
          <a:noFill/>
        </p:spPr>
        <p:txBody>
          <a:bodyPr wrap="square">
            <a:spAutoFit/>
          </a:bodyPr>
          <a:lstStyle/>
          <a:p>
            <a:pPr algn="ctr"/>
            <a:r>
              <a:rPr sz="1200" b="0" i="0">
                <a:solidFill>
                  <a:srgbClr val="1E293B"/>
                </a:solidFill>
              </a:rPr>
              <a:t>of reading
annually</a:t>
            </a:r>
          </a:p>
        </p:txBody>
      </p:sp>
      <p:sp>
        <p:nvSpPr>
          <p:cNvPr id="16" name="Rectangle 15"/>
          <p:cNvSpPr/>
          <p:nvPr/>
        </p:nvSpPr>
        <p:spPr>
          <a:xfrm>
            <a:off x="9061704" y="1143000"/>
            <a:ext cx="2651760" cy="1371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1234440"/>
            <a:ext cx="2651760" cy="658368"/>
          </a:xfrm>
          <a:prstGeom prst="rect">
            <a:avLst/>
          </a:prstGeom>
          <a:noFill/>
        </p:spPr>
        <p:txBody>
          <a:bodyPr wrap="square">
            <a:spAutoFit/>
          </a:bodyPr>
          <a:lstStyle/>
          <a:p>
            <a:pPr algn="ctr"/>
            <a:r>
              <a:rPr sz="3600" b="1" i="0">
                <a:solidFill>
                  <a:srgbClr val="FF9900"/>
                </a:solidFill>
              </a:rPr>
              <a:t>0%</a:t>
            </a:r>
          </a:p>
        </p:txBody>
      </p:sp>
      <p:sp>
        <p:nvSpPr>
          <p:cNvPr id="18" name="TextBox 17"/>
          <p:cNvSpPr txBox="1"/>
          <p:nvPr/>
        </p:nvSpPr>
        <p:spPr>
          <a:xfrm>
            <a:off x="9061704" y="1874519"/>
            <a:ext cx="2651760" cy="530352"/>
          </a:xfrm>
          <a:prstGeom prst="rect">
            <a:avLst/>
          </a:prstGeom>
          <a:noFill/>
        </p:spPr>
        <p:txBody>
          <a:bodyPr wrap="square">
            <a:spAutoFit/>
          </a:bodyPr>
          <a:lstStyle/>
          <a:p>
            <a:pPr algn="ctr"/>
            <a:r>
              <a:rPr sz="1200" b="0" i="0">
                <a:solidFill>
                  <a:srgbClr val="1E293B"/>
                </a:solidFill>
              </a:rPr>
              <a:t>of that time
billable</a:t>
            </a:r>
          </a:p>
        </p:txBody>
      </p:sp>
      <p:sp>
        <p:nvSpPr>
          <p:cNvPr id="19" name="Rectangle 18"/>
          <p:cNvSpPr/>
          <p:nvPr/>
        </p:nvSpPr>
        <p:spPr>
          <a:xfrm>
            <a:off x="502920" y="2697480"/>
            <a:ext cx="11183112"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2788920"/>
            <a:ext cx="5486400" cy="292608"/>
          </a:xfrm>
          <a:prstGeom prst="rect">
            <a:avLst/>
          </a:prstGeom>
          <a:noFill/>
        </p:spPr>
        <p:txBody>
          <a:bodyPr wrap="square">
            <a:spAutoFit/>
          </a:bodyPr>
          <a:lstStyle/>
          <a:p>
            <a:pPr algn="l"/>
            <a:r>
              <a:rPr sz="1500" b="1" i="0">
                <a:solidFill>
                  <a:srgbClr val="1E293B"/>
                </a:solidFill>
              </a:rPr>
              <a:t>Pain Points</a:t>
            </a:r>
          </a:p>
        </p:txBody>
      </p:sp>
      <p:sp>
        <p:nvSpPr>
          <p:cNvPr id="21" name="Rectangle 20"/>
          <p:cNvSpPr/>
          <p:nvPr/>
        </p:nvSpPr>
        <p:spPr>
          <a:xfrm>
            <a:off x="502920" y="3227831"/>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3182112"/>
            <a:ext cx="7114032" cy="411480"/>
          </a:xfrm>
          <a:prstGeom prst="rect">
            <a:avLst/>
          </a:prstGeom>
          <a:noFill/>
        </p:spPr>
        <p:txBody>
          <a:bodyPr wrap="square">
            <a:spAutoFit/>
          </a:bodyPr>
          <a:lstStyle/>
          <a:p>
            <a:r>
              <a:rPr sz="1200">
                <a:solidFill>
                  <a:srgbClr val="1E293B"/>
                </a:solidFill>
              </a:rPr>
              <a:t>Manual RSS monitoring across dozens of categories — easy to miss critical announcements</a:t>
            </a:r>
          </a:p>
        </p:txBody>
      </p:sp>
      <p:sp>
        <p:nvSpPr>
          <p:cNvPr id="23" name="Rectangle 22"/>
          <p:cNvSpPr/>
          <p:nvPr/>
        </p:nvSpPr>
        <p:spPr>
          <a:xfrm>
            <a:off x="502920" y="3703319"/>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3657600"/>
            <a:ext cx="7114032" cy="411480"/>
          </a:xfrm>
          <a:prstGeom prst="rect">
            <a:avLst/>
          </a:prstGeom>
          <a:noFill/>
        </p:spPr>
        <p:txBody>
          <a:bodyPr wrap="square">
            <a:spAutoFit/>
          </a:bodyPr>
          <a:lstStyle/>
          <a:p>
            <a:r>
              <a:rPr sz="1200">
                <a:solidFill>
                  <a:srgbClr val="1E293B"/>
                </a:solidFill>
              </a:rPr>
              <a:t>No searchable history — can't quickly answer 'did AWS update Lambda timeouts this year?'</a:t>
            </a:r>
          </a:p>
        </p:txBody>
      </p:sp>
      <p:sp>
        <p:nvSpPr>
          <p:cNvPr id="25" name="Rectangle 24"/>
          <p:cNvSpPr/>
          <p:nvPr/>
        </p:nvSpPr>
        <p:spPr>
          <a:xfrm>
            <a:off x="502920" y="4178806"/>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133087"/>
            <a:ext cx="7114032" cy="411480"/>
          </a:xfrm>
          <a:prstGeom prst="rect">
            <a:avLst/>
          </a:prstGeom>
          <a:noFill/>
        </p:spPr>
        <p:txBody>
          <a:bodyPr wrap="square">
            <a:spAutoFit/>
          </a:bodyPr>
          <a:lstStyle/>
          <a:p>
            <a:r>
              <a:rPr sz="1200">
                <a:solidFill>
                  <a:srgbClr val="1E293B"/>
                </a:solidFill>
              </a:rPr>
              <a:t>Raw HTML descriptions are noisy — critical details buried in marketing language</a:t>
            </a:r>
          </a:p>
        </p:txBody>
      </p:sp>
      <p:sp>
        <p:nvSpPr>
          <p:cNvPr id="27" name="Rectangle 26"/>
          <p:cNvSpPr/>
          <p:nvPr/>
        </p:nvSpPr>
        <p:spPr>
          <a:xfrm>
            <a:off x="502920" y="4654295"/>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608576"/>
            <a:ext cx="7114032" cy="411480"/>
          </a:xfrm>
          <a:prstGeom prst="rect">
            <a:avLst/>
          </a:prstGeom>
          <a:noFill/>
        </p:spPr>
        <p:txBody>
          <a:bodyPr wrap="square">
            <a:spAutoFit/>
          </a:bodyPr>
          <a:lstStyle/>
          <a:p>
            <a:r>
              <a:rPr sz="1200">
                <a:solidFill>
                  <a:srgbClr val="1E293B"/>
                </a:solidFill>
              </a:rPr>
              <a:t>No way to filter by relevance to our specific services (EC2, RDS, Lambda, EKS, S3…)</a:t>
            </a:r>
          </a:p>
        </p:txBody>
      </p:sp>
      <p:sp>
        <p:nvSpPr>
          <p:cNvPr id="29" name="Rectangle 28"/>
          <p:cNvSpPr/>
          <p:nvPr/>
        </p:nvSpPr>
        <p:spPr>
          <a:xfrm>
            <a:off x="502920" y="5129783"/>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084064"/>
            <a:ext cx="7114032" cy="411480"/>
          </a:xfrm>
          <a:prstGeom prst="rect">
            <a:avLst/>
          </a:prstGeom>
          <a:noFill/>
        </p:spPr>
        <p:txBody>
          <a:bodyPr wrap="square">
            <a:spAutoFit/>
          </a:bodyPr>
          <a:lstStyle/>
          <a:p>
            <a:r>
              <a:rPr sz="1200">
                <a:solidFill>
                  <a:srgbClr val="1E293B"/>
                </a:solidFill>
              </a:rPr>
              <a:t>Team knowledge is siloed — each admin tracks different services independently</a:t>
            </a:r>
          </a:p>
        </p:txBody>
      </p:sp>
      <p:sp>
        <p:nvSpPr>
          <p:cNvPr id="31" name="Rectangle 30"/>
          <p:cNvSpPr/>
          <p:nvPr/>
        </p:nvSpPr>
        <p:spPr>
          <a:xfrm>
            <a:off x="8275320" y="2788920"/>
            <a:ext cx="3401568" cy="3154680"/>
          </a:xfrm>
          <a:prstGeom prst="rect">
            <a:avLst/>
          </a:prstGeom>
          <a:solidFill>
            <a:srgbClr val="FFF7ED"/>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2880360"/>
            <a:ext cx="3218688" cy="329184"/>
          </a:xfrm>
          <a:prstGeom prst="rect">
            <a:avLst/>
          </a:prstGeom>
          <a:noFill/>
        </p:spPr>
        <p:txBody>
          <a:bodyPr wrap="square">
            <a:spAutoFit/>
          </a:bodyPr>
          <a:lstStyle/>
          <a:p>
            <a:pPr algn="l"/>
            <a:r>
              <a:rPr sz="1400" b="1" i="0">
                <a:solidFill>
                  <a:srgbClr val="FF9900"/>
                </a:solidFill>
              </a:rPr>
              <a:t>The Opportunity</a:t>
            </a:r>
          </a:p>
        </p:txBody>
      </p:sp>
      <p:sp>
        <p:nvSpPr>
          <p:cNvPr id="33" name="TextBox 32"/>
          <p:cNvSpPr txBox="1"/>
          <p:nvPr/>
        </p:nvSpPr>
        <p:spPr>
          <a:xfrm>
            <a:off x="8366760" y="3246120"/>
            <a:ext cx="3218688" cy="2468880"/>
          </a:xfrm>
          <a:prstGeom prst="rect">
            <a:avLst/>
          </a:prstGeom>
          <a:noFill/>
        </p:spPr>
        <p:txBody>
          <a:bodyPr wrap="square">
            <a:spAutoFit/>
          </a:bodyPr>
          <a:lstStyle/>
          <a:p>
            <a:pPr algn="l"/>
            <a:r>
              <a:rPr sz="1200" b="0" i="0">
                <a:solidFill>
                  <a:srgbClr val="1E293B"/>
                </a:solidFill>
              </a:rPr>
              <a:t>Automate the discovery, summarization, and cataloguing of every AWS announcement — so admins spend minutes on insights instead of hours on reading.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SOLUTION ARCHITECTURE</a:t>
            </a:r>
          </a:p>
        </p:txBody>
      </p:sp>
      <p:sp>
        <p:nvSpPr>
          <p:cNvPr id="5" name="TextBox 4"/>
          <p:cNvSpPr txBox="1"/>
          <p:nvPr/>
        </p:nvSpPr>
        <p:spPr>
          <a:xfrm>
            <a:off x="502920" y="457200"/>
            <a:ext cx="9144000" cy="512064"/>
          </a:xfrm>
          <a:prstGeom prst="rect">
            <a:avLst/>
          </a:prstGeom>
          <a:noFill/>
        </p:spPr>
        <p:txBody>
          <a:bodyPr wrap="square">
            <a:spAutoFit/>
          </a:bodyPr>
          <a:lstStyle/>
          <a:p>
            <a:pPr algn="l"/>
            <a:r>
              <a:rPr sz="2800" b="1" i="0">
                <a:solidFill>
                  <a:srgbClr val="FFFFFF"/>
                </a:solidFill>
              </a:rPr>
              <a:t>AWS Features Tracker — How It Works</a:t>
            </a:r>
          </a:p>
        </p:txBody>
      </p:sp>
      <p:sp>
        <p:nvSpPr>
          <p:cNvPr id="6" name="Rectangle 5"/>
          <p:cNvSpPr/>
          <p:nvPr/>
        </p:nvSpPr>
        <p:spPr>
          <a:xfrm>
            <a:off x="320040" y="1234440"/>
            <a:ext cx="1993392" cy="100584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325880"/>
            <a:ext cx="1993392" cy="402336"/>
          </a:xfrm>
          <a:prstGeom prst="rect">
            <a:avLst/>
          </a:prstGeom>
          <a:noFill/>
        </p:spPr>
        <p:txBody>
          <a:bodyPr wrap="square">
            <a:spAutoFit/>
          </a:bodyPr>
          <a:lstStyle/>
          <a:p>
            <a:pPr algn="ctr"/>
            <a:r>
              <a:rPr sz="1300" b="1" i="0">
                <a:solidFill>
                  <a:srgbClr val="FFFFFF"/>
                </a:solidFill>
              </a:rPr>
              <a:t>EventBridge
Scheduler</a:t>
            </a:r>
          </a:p>
        </p:txBody>
      </p:sp>
      <p:sp>
        <p:nvSpPr>
          <p:cNvPr id="8" name="TextBox 7"/>
          <p:cNvSpPr txBox="1"/>
          <p:nvPr/>
        </p:nvSpPr>
        <p:spPr>
          <a:xfrm>
            <a:off x="320040" y="1728216"/>
            <a:ext cx="1993392" cy="457200"/>
          </a:xfrm>
          <a:prstGeom prst="rect">
            <a:avLst/>
          </a:prstGeom>
          <a:noFill/>
        </p:spPr>
        <p:txBody>
          <a:bodyPr wrap="square">
            <a:spAutoFit/>
          </a:bodyPr>
          <a:lstStyle/>
          <a:p>
            <a:pPr algn="ctr"/>
            <a:r>
              <a:rPr sz="1000" b="0" i="0">
                <a:solidFill>
                  <a:srgbClr val="E2E8F0"/>
                </a:solidFill>
              </a:rPr>
              <a:t>Every 6 hours</a:t>
            </a:r>
          </a:p>
        </p:txBody>
      </p:sp>
      <p:sp>
        <p:nvSpPr>
          <p:cNvPr id="9" name="TextBox 8"/>
          <p:cNvSpPr txBox="1"/>
          <p:nvPr/>
        </p:nvSpPr>
        <p:spPr>
          <a:xfrm>
            <a:off x="2359152" y="1627632"/>
            <a:ext cx="274320" cy="256032"/>
          </a:xfrm>
          <a:prstGeom prst="rect">
            <a:avLst/>
          </a:prstGeom>
          <a:noFill/>
        </p:spPr>
        <p:txBody>
          <a:bodyPr wrap="square">
            <a:spAutoFit/>
          </a:bodyPr>
          <a:lstStyle/>
          <a:p>
            <a:pPr algn="ctr"/>
            <a:r>
              <a:rPr sz="1800" b="1" i="0">
                <a:solidFill>
                  <a:srgbClr val="FF9900"/>
                </a:solidFill>
              </a:rPr>
              <a:t>→</a:t>
            </a:r>
          </a:p>
        </p:txBody>
      </p:sp>
      <p:sp>
        <p:nvSpPr>
          <p:cNvPr id="10" name="Rectangle 9"/>
          <p:cNvSpPr/>
          <p:nvPr/>
        </p:nvSpPr>
        <p:spPr>
          <a:xfrm>
            <a:off x="2697480" y="1234440"/>
            <a:ext cx="1993392" cy="100584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80" y="1325880"/>
            <a:ext cx="1993392" cy="402336"/>
          </a:xfrm>
          <a:prstGeom prst="rect">
            <a:avLst/>
          </a:prstGeom>
          <a:noFill/>
        </p:spPr>
        <p:txBody>
          <a:bodyPr wrap="square">
            <a:spAutoFit/>
          </a:bodyPr>
          <a:lstStyle/>
          <a:p>
            <a:pPr algn="ctr"/>
            <a:r>
              <a:rPr sz="1300" b="1" i="0">
                <a:solidFill>
                  <a:srgbClr val="FFFFFF"/>
                </a:solidFill>
              </a:rPr>
              <a:t>Fetcher
Lambda</a:t>
            </a:r>
          </a:p>
        </p:txBody>
      </p:sp>
      <p:sp>
        <p:nvSpPr>
          <p:cNvPr id="12" name="TextBox 11"/>
          <p:cNvSpPr txBox="1"/>
          <p:nvPr/>
        </p:nvSpPr>
        <p:spPr>
          <a:xfrm>
            <a:off x="2697480" y="1728216"/>
            <a:ext cx="1993392" cy="457200"/>
          </a:xfrm>
          <a:prstGeom prst="rect">
            <a:avLst/>
          </a:prstGeom>
          <a:noFill/>
        </p:spPr>
        <p:txBody>
          <a:bodyPr wrap="square">
            <a:spAutoFit/>
          </a:bodyPr>
          <a:lstStyle/>
          <a:p>
            <a:pPr algn="ctr"/>
            <a:r>
              <a:rPr sz="1000" b="0" i="0">
                <a:solidFill>
                  <a:srgbClr val="E2E8F0"/>
                </a:solidFill>
              </a:rPr>
              <a:t>Parses RSS XML
Deduplicates GUIDs</a:t>
            </a:r>
          </a:p>
        </p:txBody>
      </p:sp>
      <p:sp>
        <p:nvSpPr>
          <p:cNvPr id="13" name="TextBox 12"/>
          <p:cNvSpPr txBox="1"/>
          <p:nvPr/>
        </p:nvSpPr>
        <p:spPr>
          <a:xfrm>
            <a:off x="4736592" y="1627632"/>
            <a:ext cx="274320" cy="256032"/>
          </a:xfrm>
          <a:prstGeom prst="rect">
            <a:avLst/>
          </a:prstGeom>
          <a:noFill/>
        </p:spPr>
        <p:txBody>
          <a:bodyPr wrap="square">
            <a:spAutoFit/>
          </a:bodyPr>
          <a:lstStyle/>
          <a:p>
            <a:pPr algn="ctr"/>
            <a:r>
              <a:rPr sz="1800" b="1" i="0">
                <a:solidFill>
                  <a:srgbClr val="FF9900"/>
                </a:solidFill>
              </a:rPr>
              <a:t>→</a:t>
            </a:r>
          </a:p>
        </p:txBody>
      </p:sp>
      <p:sp>
        <p:nvSpPr>
          <p:cNvPr id="14" name="Rectangle 13"/>
          <p:cNvSpPr/>
          <p:nvPr/>
        </p:nvSpPr>
        <p:spPr>
          <a:xfrm>
            <a:off x="5074920" y="1234440"/>
            <a:ext cx="1993392" cy="1005840"/>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74920" y="1325880"/>
            <a:ext cx="1993392" cy="402336"/>
          </a:xfrm>
          <a:prstGeom prst="rect">
            <a:avLst/>
          </a:prstGeom>
          <a:noFill/>
        </p:spPr>
        <p:txBody>
          <a:bodyPr wrap="square">
            <a:spAutoFit/>
          </a:bodyPr>
          <a:lstStyle/>
          <a:p>
            <a:pPr algn="ctr"/>
            <a:r>
              <a:rPr sz="1300" b="1" i="0">
                <a:solidFill>
                  <a:srgbClr val="FFFFFF"/>
                </a:solidFill>
              </a:rPr>
              <a:t>SQS Queue</a:t>
            </a:r>
          </a:p>
        </p:txBody>
      </p:sp>
      <p:sp>
        <p:nvSpPr>
          <p:cNvPr id="16" name="TextBox 15"/>
          <p:cNvSpPr txBox="1"/>
          <p:nvPr/>
        </p:nvSpPr>
        <p:spPr>
          <a:xfrm>
            <a:off x="5074920" y="1728216"/>
            <a:ext cx="1993392" cy="457200"/>
          </a:xfrm>
          <a:prstGeom prst="rect">
            <a:avLst/>
          </a:prstGeom>
          <a:noFill/>
        </p:spPr>
        <p:txBody>
          <a:bodyPr wrap="square">
            <a:spAutoFit/>
          </a:bodyPr>
          <a:lstStyle/>
          <a:p>
            <a:pPr algn="ctr"/>
            <a:r>
              <a:rPr sz="1000" b="0" i="0">
                <a:solidFill>
                  <a:srgbClr val="E2E8F0"/>
                </a:solidFill>
              </a:rPr>
              <a:t>Reliable delivery
DLQ on failure</a:t>
            </a:r>
          </a:p>
        </p:txBody>
      </p:sp>
      <p:sp>
        <p:nvSpPr>
          <p:cNvPr id="17" name="TextBox 16"/>
          <p:cNvSpPr txBox="1"/>
          <p:nvPr/>
        </p:nvSpPr>
        <p:spPr>
          <a:xfrm>
            <a:off x="7114032" y="1627632"/>
            <a:ext cx="274320" cy="256032"/>
          </a:xfrm>
          <a:prstGeom prst="rect">
            <a:avLst/>
          </a:prstGeom>
          <a:noFill/>
        </p:spPr>
        <p:txBody>
          <a:bodyPr wrap="square">
            <a:spAutoFit/>
          </a:bodyPr>
          <a:lstStyle/>
          <a:p>
            <a:pPr algn="ctr"/>
            <a:r>
              <a:rPr sz="1800" b="1" i="0">
                <a:solidFill>
                  <a:srgbClr val="FF9900"/>
                </a:solidFill>
              </a:rPr>
              <a:t>→</a:t>
            </a:r>
          </a:p>
        </p:txBody>
      </p:sp>
      <p:sp>
        <p:nvSpPr>
          <p:cNvPr id="18" name="Rectangle 17"/>
          <p:cNvSpPr/>
          <p:nvPr/>
        </p:nvSpPr>
        <p:spPr>
          <a:xfrm>
            <a:off x="7452360" y="1234440"/>
            <a:ext cx="1993392" cy="10058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1325880"/>
            <a:ext cx="1993392" cy="402336"/>
          </a:xfrm>
          <a:prstGeom prst="rect">
            <a:avLst/>
          </a:prstGeom>
          <a:noFill/>
        </p:spPr>
        <p:txBody>
          <a:bodyPr wrap="square">
            <a:spAutoFit/>
          </a:bodyPr>
          <a:lstStyle/>
          <a:p>
            <a:pPr algn="ctr"/>
            <a:r>
              <a:rPr sz="1300" b="1" i="0">
                <a:solidFill>
                  <a:srgbClr val="FFFFFF"/>
                </a:solidFill>
              </a:rPr>
              <a:t>Summarizer
Lambda</a:t>
            </a:r>
          </a:p>
        </p:txBody>
      </p:sp>
      <p:sp>
        <p:nvSpPr>
          <p:cNvPr id="20" name="TextBox 19"/>
          <p:cNvSpPr txBox="1"/>
          <p:nvPr/>
        </p:nvSpPr>
        <p:spPr>
          <a:xfrm>
            <a:off x="7452360" y="1728216"/>
            <a:ext cx="1993392" cy="457200"/>
          </a:xfrm>
          <a:prstGeom prst="rect">
            <a:avLst/>
          </a:prstGeom>
          <a:noFill/>
        </p:spPr>
        <p:txBody>
          <a:bodyPr wrap="square">
            <a:spAutoFit/>
          </a:bodyPr>
          <a:lstStyle/>
          <a:p>
            <a:pPr algn="ctr"/>
            <a:r>
              <a:rPr sz="1000" b="0" i="0">
                <a:solidFill>
                  <a:srgbClr val="E2E8F0"/>
                </a:solidFill>
              </a:rPr>
              <a:t>Claude Haiku
via Bedrock</a:t>
            </a:r>
          </a:p>
        </p:txBody>
      </p:sp>
      <p:sp>
        <p:nvSpPr>
          <p:cNvPr id="21" name="TextBox 20"/>
          <p:cNvSpPr txBox="1"/>
          <p:nvPr/>
        </p:nvSpPr>
        <p:spPr>
          <a:xfrm>
            <a:off x="9491472" y="1627632"/>
            <a:ext cx="274320" cy="256032"/>
          </a:xfrm>
          <a:prstGeom prst="rect">
            <a:avLst/>
          </a:prstGeom>
          <a:noFill/>
        </p:spPr>
        <p:txBody>
          <a:bodyPr wrap="square">
            <a:spAutoFit/>
          </a:bodyPr>
          <a:lstStyle/>
          <a:p>
            <a:pPr algn="ctr"/>
            <a:r>
              <a:rPr sz="1800" b="1" i="0">
                <a:solidFill>
                  <a:srgbClr val="FF9900"/>
                </a:solidFill>
              </a:rPr>
              <a:t>→</a:t>
            </a:r>
          </a:p>
        </p:txBody>
      </p:sp>
      <p:sp>
        <p:nvSpPr>
          <p:cNvPr id="22" name="Rectangle 21"/>
          <p:cNvSpPr/>
          <p:nvPr/>
        </p:nvSpPr>
        <p:spPr>
          <a:xfrm>
            <a:off x="9829800" y="1234440"/>
            <a:ext cx="1993392" cy="100584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9800" y="1325880"/>
            <a:ext cx="1993392" cy="402336"/>
          </a:xfrm>
          <a:prstGeom prst="rect">
            <a:avLst/>
          </a:prstGeom>
          <a:noFill/>
        </p:spPr>
        <p:txBody>
          <a:bodyPr wrap="square">
            <a:spAutoFit/>
          </a:bodyPr>
          <a:lstStyle/>
          <a:p>
            <a:pPr algn="ctr"/>
            <a:r>
              <a:rPr sz="1300" b="1" i="0">
                <a:solidFill>
                  <a:srgbClr val="FFFFFF"/>
                </a:solidFill>
              </a:rPr>
              <a:t>DynamoDB
+ S3</a:t>
            </a:r>
          </a:p>
        </p:txBody>
      </p:sp>
      <p:sp>
        <p:nvSpPr>
          <p:cNvPr id="24" name="TextBox 23"/>
          <p:cNvSpPr txBox="1"/>
          <p:nvPr/>
        </p:nvSpPr>
        <p:spPr>
          <a:xfrm>
            <a:off x="9829800" y="1728216"/>
            <a:ext cx="1993392" cy="457200"/>
          </a:xfrm>
          <a:prstGeom prst="rect">
            <a:avLst/>
          </a:prstGeom>
          <a:noFill/>
        </p:spPr>
        <p:txBody>
          <a:bodyPr wrap="square">
            <a:spAutoFit/>
          </a:bodyPr>
          <a:lstStyle/>
          <a:p>
            <a:pPr algn="ctr"/>
            <a:r>
              <a:rPr sz="1000" b="0" i="0">
                <a:solidFill>
                  <a:srgbClr val="E2E8F0"/>
                </a:solidFill>
              </a:rPr>
              <a:t>Persistent store
JSON archive</a:t>
            </a:r>
          </a:p>
        </p:txBody>
      </p:sp>
      <p:sp>
        <p:nvSpPr>
          <p:cNvPr id="25" name="TextBox 24"/>
          <p:cNvSpPr txBox="1"/>
          <p:nvPr/>
        </p:nvSpPr>
        <p:spPr>
          <a:xfrm>
            <a:off x="320040" y="2468880"/>
            <a:ext cx="11430000" cy="274320"/>
          </a:xfrm>
          <a:prstGeom prst="rect">
            <a:avLst/>
          </a:prstGeom>
          <a:noFill/>
        </p:spPr>
        <p:txBody>
          <a:bodyPr wrap="square">
            <a:spAutoFit/>
          </a:bodyPr>
          <a:lstStyle/>
          <a:p>
            <a:pPr algn="l"/>
            <a:r>
              <a:rPr sz="1100" b="1" i="0">
                <a:solidFill>
                  <a:srgbClr val="94A3B8"/>
                </a:solidFill>
              </a:rPr>
              <a:t>▼  API &amp; Frontend Layer</a:t>
            </a:r>
          </a:p>
        </p:txBody>
      </p:sp>
      <p:sp>
        <p:nvSpPr>
          <p:cNvPr id="26" name="Rectangle 25"/>
          <p:cNvSpPr/>
          <p:nvPr/>
        </p:nvSpPr>
        <p:spPr>
          <a:xfrm>
            <a:off x="320040" y="2834640"/>
            <a:ext cx="1993392" cy="100584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2926080"/>
            <a:ext cx="1993392" cy="402336"/>
          </a:xfrm>
          <a:prstGeom prst="rect">
            <a:avLst/>
          </a:prstGeom>
          <a:noFill/>
        </p:spPr>
        <p:txBody>
          <a:bodyPr wrap="square">
            <a:spAutoFit/>
          </a:bodyPr>
          <a:lstStyle/>
          <a:p>
            <a:pPr algn="ctr"/>
            <a:r>
              <a:rPr sz="1300" b="1" i="0">
                <a:solidFill>
                  <a:srgbClr val="FFFFFF"/>
                </a:solidFill>
              </a:rPr>
              <a:t>API Gateway
(HTTP API)</a:t>
            </a:r>
          </a:p>
        </p:txBody>
      </p:sp>
      <p:sp>
        <p:nvSpPr>
          <p:cNvPr id="28" name="TextBox 27"/>
          <p:cNvSpPr txBox="1"/>
          <p:nvPr/>
        </p:nvSpPr>
        <p:spPr>
          <a:xfrm>
            <a:off x="320040" y="3328416"/>
            <a:ext cx="1993392" cy="457200"/>
          </a:xfrm>
          <a:prstGeom prst="rect">
            <a:avLst/>
          </a:prstGeom>
          <a:noFill/>
        </p:spPr>
        <p:txBody>
          <a:bodyPr wrap="square">
            <a:spAutoFit/>
          </a:bodyPr>
          <a:lstStyle/>
          <a:p>
            <a:pPr algn="ctr"/>
            <a:r>
              <a:rPr sz="1000" b="0" i="0">
                <a:solidFill>
                  <a:srgbClr val="E2E8F0"/>
                </a:solidFill>
              </a:rPr>
              <a:t>REST endpoints
No auth — read-only</a:t>
            </a:r>
          </a:p>
        </p:txBody>
      </p:sp>
      <p:sp>
        <p:nvSpPr>
          <p:cNvPr id="29" name="TextBox 28"/>
          <p:cNvSpPr txBox="1"/>
          <p:nvPr/>
        </p:nvSpPr>
        <p:spPr>
          <a:xfrm>
            <a:off x="2359152" y="3227832"/>
            <a:ext cx="274320" cy="256032"/>
          </a:xfrm>
          <a:prstGeom prst="rect">
            <a:avLst/>
          </a:prstGeom>
          <a:noFill/>
        </p:spPr>
        <p:txBody>
          <a:bodyPr wrap="square">
            <a:spAutoFit/>
          </a:bodyPr>
          <a:lstStyle/>
          <a:p>
            <a:pPr algn="ctr"/>
            <a:r>
              <a:rPr sz="1800" b="1" i="0">
                <a:solidFill>
                  <a:srgbClr val="FF9900"/>
                </a:solidFill>
              </a:rPr>
              <a:t>→</a:t>
            </a:r>
          </a:p>
        </p:txBody>
      </p:sp>
      <p:sp>
        <p:nvSpPr>
          <p:cNvPr id="30" name="Rectangle 29"/>
          <p:cNvSpPr/>
          <p:nvPr/>
        </p:nvSpPr>
        <p:spPr>
          <a:xfrm>
            <a:off x="2697480" y="2834640"/>
            <a:ext cx="1993392" cy="1005840"/>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97480" y="2926080"/>
            <a:ext cx="1993392" cy="402336"/>
          </a:xfrm>
          <a:prstGeom prst="rect">
            <a:avLst/>
          </a:prstGeom>
          <a:noFill/>
        </p:spPr>
        <p:txBody>
          <a:bodyPr wrap="square">
            <a:spAutoFit/>
          </a:bodyPr>
          <a:lstStyle/>
          <a:p>
            <a:pPr algn="ctr"/>
            <a:r>
              <a:rPr sz="1300" b="1" i="0">
                <a:solidFill>
                  <a:srgbClr val="FFFFFF"/>
                </a:solidFill>
              </a:rPr>
              <a:t>API Lambda</a:t>
            </a:r>
          </a:p>
        </p:txBody>
      </p:sp>
      <p:sp>
        <p:nvSpPr>
          <p:cNvPr id="32" name="TextBox 31"/>
          <p:cNvSpPr txBox="1"/>
          <p:nvPr/>
        </p:nvSpPr>
        <p:spPr>
          <a:xfrm>
            <a:off x="2697480" y="3328416"/>
            <a:ext cx="1993392" cy="457200"/>
          </a:xfrm>
          <a:prstGeom prst="rect">
            <a:avLst/>
          </a:prstGeom>
          <a:noFill/>
        </p:spPr>
        <p:txBody>
          <a:bodyPr wrap="square">
            <a:spAutoFit/>
          </a:bodyPr>
          <a:lstStyle/>
          <a:p>
            <a:pPr algn="ctr"/>
            <a:r>
              <a:rPr sz="1000" b="0" i="0">
                <a:solidFill>
                  <a:srgbClr val="E2E8F0"/>
                </a:solidFill>
              </a:rPr>
              <a:t>/features /services
/types /health</a:t>
            </a:r>
          </a:p>
        </p:txBody>
      </p:sp>
      <p:sp>
        <p:nvSpPr>
          <p:cNvPr id="33" name="TextBox 32"/>
          <p:cNvSpPr txBox="1"/>
          <p:nvPr/>
        </p:nvSpPr>
        <p:spPr>
          <a:xfrm>
            <a:off x="4736592" y="3227832"/>
            <a:ext cx="274320" cy="256032"/>
          </a:xfrm>
          <a:prstGeom prst="rect">
            <a:avLst/>
          </a:prstGeom>
          <a:noFill/>
        </p:spPr>
        <p:txBody>
          <a:bodyPr wrap="square">
            <a:spAutoFit/>
          </a:bodyPr>
          <a:lstStyle/>
          <a:p>
            <a:pPr algn="ctr"/>
            <a:r>
              <a:rPr sz="1800" b="1" i="0">
                <a:solidFill>
                  <a:srgbClr val="FF9900"/>
                </a:solidFill>
              </a:rPr>
              <a:t>→</a:t>
            </a:r>
          </a:p>
        </p:txBody>
      </p:sp>
      <p:sp>
        <p:nvSpPr>
          <p:cNvPr id="34" name="Rectangle 33"/>
          <p:cNvSpPr/>
          <p:nvPr/>
        </p:nvSpPr>
        <p:spPr>
          <a:xfrm>
            <a:off x="5074920" y="2834640"/>
            <a:ext cx="1993392" cy="100584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926080"/>
            <a:ext cx="1993392" cy="402336"/>
          </a:xfrm>
          <a:prstGeom prst="rect">
            <a:avLst/>
          </a:prstGeom>
          <a:noFill/>
        </p:spPr>
        <p:txBody>
          <a:bodyPr wrap="square">
            <a:spAutoFit/>
          </a:bodyPr>
          <a:lstStyle/>
          <a:p>
            <a:pPr algn="ctr"/>
            <a:r>
              <a:rPr sz="1300" b="1" i="0">
                <a:solidFill>
                  <a:srgbClr val="FFFFFF"/>
                </a:solidFill>
              </a:rPr>
              <a:t>CloudFront CDN</a:t>
            </a:r>
          </a:p>
        </p:txBody>
      </p:sp>
      <p:sp>
        <p:nvSpPr>
          <p:cNvPr id="36" name="TextBox 35"/>
          <p:cNvSpPr txBox="1"/>
          <p:nvPr/>
        </p:nvSpPr>
        <p:spPr>
          <a:xfrm>
            <a:off x="5074920" y="3328416"/>
            <a:ext cx="1993392" cy="457200"/>
          </a:xfrm>
          <a:prstGeom prst="rect">
            <a:avLst/>
          </a:prstGeom>
          <a:noFill/>
        </p:spPr>
        <p:txBody>
          <a:bodyPr wrap="square">
            <a:spAutoFit/>
          </a:bodyPr>
          <a:lstStyle/>
          <a:p>
            <a:pPr algn="ctr"/>
            <a:r>
              <a:rPr sz="1000" b="0" i="0">
                <a:solidFill>
                  <a:srgbClr val="E2E8F0"/>
                </a:solidFill>
              </a:rPr>
              <a:t>Global edge caching
SPA routing</a:t>
            </a:r>
          </a:p>
        </p:txBody>
      </p:sp>
      <p:sp>
        <p:nvSpPr>
          <p:cNvPr id="37" name="TextBox 36"/>
          <p:cNvSpPr txBox="1"/>
          <p:nvPr/>
        </p:nvSpPr>
        <p:spPr>
          <a:xfrm>
            <a:off x="7114032" y="3227832"/>
            <a:ext cx="274320" cy="256032"/>
          </a:xfrm>
          <a:prstGeom prst="rect">
            <a:avLst/>
          </a:prstGeom>
          <a:noFill/>
        </p:spPr>
        <p:txBody>
          <a:bodyPr wrap="square">
            <a:spAutoFit/>
          </a:bodyPr>
          <a:lstStyle/>
          <a:p>
            <a:pPr algn="ctr"/>
            <a:r>
              <a:rPr sz="1800" b="1" i="0">
                <a:solidFill>
                  <a:srgbClr val="FF9900"/>
                </a:solidFill>
              </a:rPr>
              <a:t>→</a:t>
            </a:r>
          </a:p>
        </p:txBody>
      </p:sp>
      <p:sp>
        <p:nvSpPr>
          <p:cNvPr id="38" name="Rectangle 37"/>
          <p:cNvSpPr/>
          <p:nvPr/>
        </p:nvSpPr>
        <p:spPr>
          <a:xfrm>
            <a:off x="7452360" y="2834640"/>
            <a:ext cx="1993392" cy="100584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0" y="2926080"/>
            <a:ext cx="1993392" cy="402336"/>
          </a:xfrm>
          <a:prstGeom prst="rect">
            <a:avLst/>
          </a:prstGeom>
          <a:noFill/>
        </p:spPr>
        <p:txBody>
          <a:bodyPr wrap="square">
            <a:spAutoFit/>
          </a:bodyPr>
          <a:lstStyle/>
          <a:p>
            <a:pPr algn="ctr"/>
            <a:r>
              <a:rPr sz="1300" b="1" i="0">
                <a:solidFill>
                  <a:srgbClr val="FFFFFF"/>
                </a:solidFill>
              </a:rPr>
              <a:t>React SPA
(S3)</a:t>
            </a:r>
          </a:p>
        </p:txBody>
      </p:sp>
      <p:sp>
        <p:nvSpPr>
          <p:cNvPr id="40" name="TextBox 39"/>
          <p:cNvSpPr txBox="1"/>
          <p:nvPr/>
        </p:nvSpPr>
        <p:spPr>
          <a:xfrm>
            <a:off x="7452360" y="3328416"/>
            <a:ext cx="1993392" cy="457200"/>
          </a:xfrm>
          <a:prstGeom prst="rect">
            <a:avLst/>
          </a:prstGeom>
          <a:noFill/>
        </p:spPr>
        <p:txBody>
          <a:bodyPr wrap="square">
            <a:spAutoFit/>
          </a:bodyPr>
          <a:lstStyle/>
          <a:p>
            <a:pPr algn="ctr"/>
            <a:r>
              <a:rPr sz="1000" b="0" i="0">
                <a:solidFill>
                  <a:srgbClr val="E2E8F0"/>
                </a:solidFill>
              </a:rPr>
              <a:t>TypeScript + Vite
Tailwind CSS</a:t>
            </a:r>
          </a:p>
        </p:txBody>
      </p:sp>
      <p:sp>
        <p:nvSpPr>
          <p:cNvPr id="41" name="TextBox 40"/>
          <p:cNvSpPr txBox="1"/>
          <p:nvPr/>
        </p:nvSpPr>
        <p:spPr>
          <a:xfrm>
            <a:off x="320040" y="4069080"/>
            <a:ext cx="11430000" cy="274320"/>
          </a:xfrm>
          <a:prstGeom prst="rect">
            <a:avLst/>
          </a:prstGeom>
          <a:noFill/>
        </p:spPr>
        <p:txBody>
          <a:bodyPr wrap="square">
            <a:spAutoFit/>
          </a:bodyPr>
          <a:lstStyle/>
          <a:p>
            <a:pPr algn="l"/>
            <a:r>
              <a:rPr sz="1100" b="1" i="0">
                <a:solidFill>
                  <a:srgbClr val="94A3B8"/>
                </a:solidFill>
              </a:rPr>
              <a:t>Tech Stack</a:t>
            </a:r>
          </a:p>
        </p:txBody>
      </p:sp>
      <p:sp>
        <p:nvSpPr>
          <p:cNvPr id="42" name="Rectangle 41"/>
          <p:cNvSpPr/>
          <p:nvPr/>
        </p:nvSpPr>
        <p:spPr>
          <a:xfrm>
            <a:off x="320040"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20040" y="4398264"/>
            <a:ext cx="1874519" cy="347472"/>
          </a:xfrm>
          <a:prstGeom prst="rect">
            <a:avLst/>
          </a:prstGeom>
          <a:noFill/>
        </p:spPr>
        <p:txBody>
          <a:bodyPr wrap="square">
            <a:spAutoFit/>
          </a:bodyPr>
          <a:lstStyle/>
          <a:p>
            <a:pPr algn="ctr"/>
            <a:r>
              <a:rPr sz="900" b="0" i="0">
                <a:solidFill>
                  <a:srgbClr val="CBD5E1"/>
                </a:solidFill>
              </a:rPr>
              <a:t>Python 3.12 · Lambda arm64</a:t>
            </a:r>
          </a:p>
        </p:txBody>
      </p:sp>
      <p:sp>
        <p:nvSpPr>
          <p:cNvPr id="44" name="Rectangle 43"/>
          <p:cNvSpPr/>
          <p:nvPr/>
        </p:nvSpPr>
        <p:spPr>
          <a:xfrm>
            <a:off x="2304288"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304288" y="4398264"/>
            <a:ext cx="1874519" cy="347472"/>
          </a:xfrm>
          <a:prstGeom prst="rect">
            <a:avLst/>
          </a:prstGeom>
          <a:noFill/>
        </p:spPr>
        <p:txBody>
          <a:bodyPr wrap="square">
            <a:spAutoFit/>
          </a:bodyPr>
          <a:lstStyle/>
          <a:p>
            <a:pPr algn="ctr"/>
            <a:r>
              <a:rPr sz="900" b="0" i="0">
                <a:solidFill>
                  <a:srgbClr val="CBD5E1"/>
                </a:solidFill>
              </a:rPr>
              <a:t>Amazon Bedrock · Claude Haiku</a:t>
            </a:r>
          </a:p>
        </p:txBody>
      </p:sp>
      <p:sp>
        <p:nvSpPr>
          <p:cNvPr id="46" name="Rectangle 45"/>
          <p:cNvSpPr/>
          <p:nvPr/>
        </p:nvSpPr>
        <p:spPr>
          <a:xfrm>
            <a:off x="4288536"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88536" y="4398264"/>
            <a:ext cx="1874519" cy="347472"/>
          </a:xfrm>
          <a:prstGeom prst="rect">
            <a:avLst/>
          </a:prstGeom>
          <a:noFill/>
        </p:spPr>
        <p:txBody>
          <a:bodyPr wrap="square">
            <a:spAutoFit/>
          </a:bodyPr>
          <a:lstStyle/>
          <a:p>
            <a:pPr algn="ctr"/>
            <a:r>
              <a:rPr sz="900" b="0" i="0">
                <a:solidFill>
                  <a:srgbClr val="CBD5E1"/>
                </a:solidFill>
              </a:rPr>
              <a:t>DynamoDB on-demand</a:t>
            </a:r>
          </a:p>
        </p:txBody>
      </p:sp>
      <p:sp>
        <p:nvSpPr>
          <p:cNvPr id="48" name="Rectangle 47"/>
          <p:cNvSpPr/>
          <p:nvPr/>
        </p:nvSpPr>
        <p:spPr>
          <a:xfrm>
            <a:off x="6272783"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2783" y="4398264"/>
            <a:ext cx="1874519" cy="347472"/>
          </a:xfrm>
          <a:prstGeom prst="rect">
            <a:avLst/>
          </a:prstGeom>
          <a:noFill/>
        </p:spPr>
        <p:txBody>
          <a:bodyPr wrap="square">
            <a:spAutoFit/>
          </a:bodyPr>
          <a:lstStyle/>
          <a:p>
            <a:pPr algn="ctr"/>
            <a:r>
              <a:rPr sz="900" b="0" i="0">
                <a:solidFill>
                  <a:srgbClr val="CBD5E1"/>
                </a:solidFill>
              </a:rPr>
              <a:t>React 18 + TypeScript + Vite</a:t>
            </a:r>
          </a:p>
        </p:txBody>
      </p:sp>
      <p:sp>
        <p:nvSpPr>
          <p:cNvPr id="50" name="Rectangle 49"/>
          <p:cNvSpPr/>
          <p:nvPr/>
        </p:nvSpPr>
        <p:spPr>
          <a:xfrm>
            <a:off x="8257031"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57031" y="4398264"/>
            <a:ext cx="1874519" cy="347472"/>
          </a:xfrm>
          <a:prstGeom prst="rect">
            <a:avLst/>
          </a:prstGeom>
          <a:noFill/>
        </p:spPr>
        <p:txBody>
          <a:bodyPr wrap="square">
            <a:spAutoFit/>
          </a:bodyPr>
          <a:lstStyle/>
          <a:p>
            <a:pPr algn="ctr"/>
            <a:r>
              <a:rPr sz="900" b="0" i="0">
                <a:solidFill>
                  <a:srgbClr val="CBD5E1"/>
                </a:solidFill>
              </a:rPr>
              <a:t>AWS SAM (IaC)</a:t>
            </a:r>
          </a:p>
        </p:txBody>
      </p:sp>
      <p:sp>
        <p:nvSpPr>
          <p:cNvPr id="52" name="Rectangle 51"/>
          <p:cNvSpPr/>
          <p:nvPr/>
        </p:nvSpPr>
        <p:spPr>
          <a:xfrm>
            <a:off x="10241280" y="4389120"/>
            <a:ext cx="1874519" cy="365760"/>
          </a:xfrm>
          <a:prstGeom prst="rect">
            <a:avLst/>
          </a:prstGeom>
          <a:solidFill>
            <a:srgbClr val="1E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41280" y="4398264"/>
            <a:ext cx="1874519" cy="347472"/>
          </a:xfrm>
          <a:prstGeom prst="rect">
            <a:avLst/>
          </a:prstGeom>
          <a:noFill/>
        </p:spPr>
        <p:txBody>
          <a:bodyPr wrap="square">
            <a:spAutoFit/>
          </a:bodyPr>
          <a:lstStyle/>
          <a:p>
            <a:pPr algn="ctr"/>
            <a:r>
              <a:rPr sz="900" b="0" i="0">
                <a:solidFill>
                  <a:srgbClr val="CBD5E1"/>
                </a:solidFill>
              </a:rPr>
              <a:t>~$0.31/month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0058400" cy="512064"/>
          </a:xfrm>
          <a:prstGeom prst="rect">
            <a:avLst/>
          </a:prstGeom>
          <a:noFill/>
        </p:spPr>
        <p:txBody>
          <a:bodyPr wrap="square">
            <a:spAutoFit/>
          </a:bodyPr>
          <a:lstStyle/>
          <a:p>
            <a:pPr algn="l"/>
            <a:r>
              <a:rPr sz="2700" b="1" i="0">
                <a:solidFill>
                  <a:srgbClr val="FFFFFF"/>
                </a:solidFill>
              </a:rPr>
              <a:t>Built for AWS Admins Who Research &amp; Analyze</a:t>
            </a:r>
          </a:p>
        </p:txBody>
      </p:sp>
      <p:sp>
        <p:nvSpPr>
          <p:cNvPr id="6" name="TextBox 5"/>
          <p:cNvSpPr txBox="1"/>
          <p:nvPr/>
        </p:nvSpPr>
        <p:spPr>
          <a:xfrm>
            <a:off x="502920" y="694944"/>
            <a:ext cx="10058400" cy="256032"/>
          </a:xfrm>
          <a:prstGeom prst="rect">
            <a:avLst/>
          </a:prstGeom>
          <a:noFill/>
        </p:spPr>
        <p:txBody>
          <a:bodyPr wrap="square">
            <a:spAutoFit/>
          </a:bodyPr>
          <a:lstStyle/>
          <a:p>
            <a:pPr algn="l"/>
            <a:r>
              <a:rPr sz="1300" b="0" i="1">
                <a:solidFill>
                  <a:srgbClr val="FF9900"/>
                </a:solidFill>
              </a:rPr>
              <a:t>Every feature is designed around the admin workflow — discover, evaluate, act.</a:t>
            </a:r>
          </a:p>
        </p:txBody>
      </p:sp>
      <p:sp>
        <p:nvSpPr>
          <p:cNvPr id="7" name="Rectangle 6"/>
          <p:cNvSpPr/>
          <p:nvPr/>
        </p:nvSpPr>
        <p:spPr>
          <a:xfrm>
            <a:off x="411480" y="1188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88720"/>
            <a:ext cx="73152" cy="16459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280160"/>
            <a:ext cx="3547871" cy="274320"/>
          </a:xfrm>
          <a:prstGeom prst="rect">
            <a:avLst/>
          </a:prstGeom>
          <a:noFill/>
        </p:spPr>
        <p:txBody>
          <a:bodyPr wrap="square">
            <a:spAutoFit/>
          </a:bodyPr>
          <a:lstStyle/>
          <a:p>
            <a:pPr algn="l"/>
            <a:r>
              <a:rPr sz="1300" b="1" i="0">
                <a:solidFill>
                  <a:srgbClr val="1E293B"/>
                </a:solidFill>
              </a:rPr>
              <a:t>Automated Discovery</a:t>
            </a:r>
          </a:p>
        </p:txBody>
      </p:sp>
      <p:sp>
        <p:nvSpPr>
          <p:cNvPr id="10" name="TextBox 9"/>
          <p:cNvSpPr txBox="1"/>
          <p:nvPr/>
        </p:nvSpPr>
        <p:spPr>
          <a:xfrm>
            <a:off x="548640" y="1572768"/>
            <a:ext cx="3547871" cy="512064"/>
          </a:xfrm>
          <a:prstGeom prst="rect">
            <a:avLst/>
          </a:prstGeom>
          <a:noFill/>
        </p:spPr>
        <p:txBody>
          <a:bodyPr wrap="square">
            <a:spAutoFit/>
          </a:bodyPr>
          <a:lstStyle/>
          <a:p>
            <a:pPr algn="l"/>
            <a:r>
              <a:rPr sz="950" b="0" i="0">
                <a:solidFill>
                  <a:srgbClr val="64748B"/>
                </a:solidFill>
              </a:rPr>
              <a:t>Fetches https://aws.amazon.com/new/feed/ every 6 hours via EventBridge Scheduler. Zero manual effort — new announcements appear within hours of posting.</a:t>
            </a:r>
          </a:p>
        </p:txBody>
      </p:sp>
      <p:sp>
        <p:nvSpPr>
          <p:cNvPr id="11" name="Rectangle 10"/>
          <p:cNvSpPr/>
          <p:nvPr/>
        </p:nvSpPr>
        <p:spPr>
          <a:xfrm>
            <a:off x="548640" y="2155698"/>
            <a:ext cx="109728"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121408"/>
            <a:ext cx="3346703" cy="256032"/>
          </a:xfrm>
          <a:prstGeom prst="rect">
            <a:avLst/>
          </a:prstGeom>
          <a:noFill/>
        </p:spPr>
        <p:txBody>
          <a:bodyPr wrap="square">
            <a:spAutoFit/>
          </a:bodyPr>
          <a:lstStyle/>
          <a:p>
            <a:r>
              <a:rPr sz="900">
                <a:solidFill>
                  <a:srgbClr val="1E293B"/>
                </a:solidFill>
              </a:rPr>
              <a:t>No manual RSS monitoring ever again</a:t>
            </a:r>
          </a:p>
        </p:txBody>
      </p:sp>
      <p:sp>
        <p:nvSpPr>
          <p:cNvPr id="13" name="Rectangle 12"/>
          <p:cNvSpPr/>
          <p:nvPr/>
        </p:nvSpPr>
        <p:spPr>
          <a:xfrm>
            <a:off x="548640" y="2448306"/>
            <a:ext cx="109728"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414016"/>
            <a:ext cx="3346703" cy="256032"/>
          </a:xfrm>
          <a:prstGeom prst="rect">
            <a:avLst/>
          </a:prstGeom>
          <a:noFill/>
        </p:spPr>
        <p:txBody>
          <a:bodyPr wrap="square">
            <a:spAutoFit/>
          </a:bodyPr>
          <a:lstStyle/>
          <a:p>
            <a:r>
              <a:rPr sz="900">
                <a:solidFill>
                  <a:srgbClr val="1E293B"/>
                </a:solidFill>
              </a:rPr>
              <a:t>Deduplication ensures no double-processing</a:t>
            </a:r>
          </a:p>
        </p:txBody>
      </p:sp>
      <p:sp>
        <p:nvSpPr>
          <p:cNvPr id="15" name="Rectangle 14"/>
          <p:cNvSpPr/>
          <p:nvPr/>
        </p:nvSpPr>
        <p:spPr>
          <a:xfrm>
            <a:off x="3528456956280" y="1188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28456956280" y="1188720"/>
            <a:ext cx="73152" cy="1645920"/>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8457093440" y="1280160"/>
            <a:ext cx="3547871" cy="274320"/>
          </a:xfrm>
          <a:prstGeom prst="rect">
            <a:avLst/>
          </a:prstGeom>
          <a:noFill/>
        </p:spPr>
        <p:txBody>
          <a:bodyPr wrap="square">
            <a:spAutoFit/>
          </a:bodyPr>
          <a:lstStyle/>
          <a:p>
            <a:pPr algn="l"/>
            <a:r>
              <a:rPr sz="1300" b="1" i="0">
                <a:solidFill>
                  <a:srgbClr val="1E293B"/>
                </a:solidFill>
              </a:rPr>
              <a:t>AI-Generated Summaries</a:t>
            </a:r>
          </a:p>
        </p:txBody>
      </p:sp>
      <p:sp>
        <p:nvSpPr>
          <p:cNvPr id="18" name="TextBox 17"/>
          <p:cNvSpPr txBox="1"/>
          <p:nvPr/>
        </p:nvSpPr>
        <p:spPr>
          <a:xfrm>
            <a:off x="3528457093440" y="1572768"/>
            <a:ext cx="3547871" cy="512064"/>
          </a:xfrm>
          <a:prstGeom prst="rect">
            <a:avLst/>
          </a:prstGeom>
          <a:noFill/>
        </p:spPr>
        <p:txBody>
          <a:bodyPr wrap="square">
            <a:spAutoFit/>
          </a:bodyPr>
          <a:lstStyle/>
          <a:p>
            <a:pPr algn="l"/>
            <a:r>
              <a:rPr sz="950" b="0" i="0">
                <a:solidFill>
                  <a:srgbClr val="64748B"/>
                </a:solidFill>
              </a:rPr>
              <a:t>Claude Haiku (Amazon Bedrock) summarizes each announcement into 3-5 actionable sentences focused on what changed, who it benefits, and key technical limits.</a:t>
            </a:r>
          </a:p>
        </p:txBody>
      </p:sp>
      <p:sp>
        <p:nvSpPr>
          <p:cNvPr id="19" name="Rectangle 18"/>
          <p:cNvSpPr/>
          <p:nvPr/>
        </p:nvSpPr>
        <p:spPr>
          <a:xfrm>
            <a:off x="3528457093440" y="215569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8457294608" y="2121408"/>
            <a:ext cx="3346703" cy="256032"/>
          </a:xfrm>
          <a:prstGeom prst="rect">
            <a:avLst/>
          </a:prstGeom>
          <a:noFill/>
        </p:spPr>
        <p:txBody>
          <a:bodyPr wrap="square">
            <a:spAutoFit/>
          </a:bodyPr>
          <a:lstStyle/>
          <a:p>
            <a:r>
              <a:rPr sz="900">
                <a:solidFill>
                  <a:srgbClr val="1E293B"/>
                </a:solidFill>
              </a:rPr>
              <a:t>Feature type auto-classified: new-feature, GA, preview, deprecation...</a:t>
            </a:r>
          </a:p>
        </p:txBody>
      </p:sp>
      <p:sp>
        <p:nvSpPr>
          <p:cNvPr id="21" name="Rectangle 20"/>
          <p:cNvSpPr/>
          <p:nvPr/>
        </p:nvSpPr>
        <p:spPr>
          <a:xfrm>
            <a:off x="3528457093440" y="2448306"/>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28457294608" y="2414016"/>
            <a:ext cx="3346703" cy="256032"/>
          </a:xfrm>
          <a:prstGeom prst="rect">
            <a:avLst/>
          </a:prstGeom>
          <a:noFill/>
        </p:spPr>
        <p:txBody>
          <a:bodyPr wrap="square">
            <a:spAutoFit/>
          </a:bodyPr>
          <a:lstStyle/>
          <a:p>
            <a:r>
              <a:rPr sz="900">
                <a:solidFill>
                  <a:srgbClr val="1E293B"/>
                </a:solidFill>
              </a:rPr>
              <a:t>3 key bullet points extracted per announcement</a:t>
            </a:r>
          </a:p>
        </p:txBody>
      </p:sp>
      <p:sp>
        <p:nvSpPr>
          <p:cNvPr id="23" name="Rectangle 22"/>
          <p:cNvSpPr/>
          <p:nvPr/>
        </p:nvSpPr>
        <p:spPr>
          <a:xfrm>
            <a:off x="7056913501080" y="1188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56913501080" y="1188720"/>
            <a:ext cx="73152" cy="16459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6913638240" y="1280160"/>
            <a:ext cx="3547871" cy="274320"/>
          </a:xfrm>
          <a:prstGeom prst="rect">
            <a:avLst/>
          </a:prstGeom>
          <a:noFill/>
        </p:spPr>
        <p:txBody>
          <a:bodyPr wrap="square">
            <a:spAutoFit/>
          </a:bodyPr>
          <a:lstStyle/>
          <a:p>
            <a:pPr algn="l"/>
            <a:r>
              <a:rPr sz="1300" b="1" i="0">
                <a:solidFill>
                  <a:srgbClr val="1E293B"/>
                </a:solidFill>
              </a:rPr>
              <a:t>Powerful Search &amp; Filters</a:t>
            </a:r>
          </a:p>
        </p:txBody>
      </p:sp>
      <p:sp>
        <p:nvSpPr>
          <p:cNvPr id="26" name="TextBox 25"/>
          <p:cNvSpPr txBox="1"/>
          <p:nvPr/>
        </p:nvSpPr>
        <p:spPr>
          <a:xfrm>
            <a:off x="7056913638240" y="1572768"/>
            <a:ext cx="3547871" cy="512064"/>
          </a:xfrm>
          <a:prstGeom prst="rect">
            <a:avLst/>
          </a:prstGeom>
          <a:noFill/>
        </p:spPr>
        <p:txBody>
          <a:bodyPr wrap="square">
            <a:spAutoFit/>
          </a:bodyPr>
          <a:lstStyle/>
          <a:p>
            <a:pPr algn="l"/>
            <a:r>
              <a:rPr sz="950" b="0" i="0">
                <a:solidFill>
                  <a:srgbClr val="64748B"/>
                </a:solidFill>
              </a:rPr>
              <a:t>Full-text search across title, summary, and service. Filter by AWS service, feature type, and date range. All state is stored in the URL — results are bookmarkable.</a:t>
            </a:r>
          </a:p>
        </p:txBody>
      </p:sp>
      <p:sp>
        <p:nvSpPr>
          <p:cNvPr id="27" name="Rectangle 26"/>
          <p:cNvSpPr/>
          <p:nvPr/>
        </p:nvSpPr>
        <p:spPr>
          <a:xfrm>
            <a:off x="7056913638240" y="2155698"/>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56913839408" y="2121408"/>
            <a:ext cx="3346703" cy="256032"/>
          </a:xfrm>
          <a:prstGeom prst="rect">
            <a:avLst/>
          </a:prstGeom>
          <a:noFill/>
        </p:spPr>
        <p:txBody>
          <a:bodyPr wrap="square">
            <a:spAutoFit/>
          </a:bodyPr>
          <a:lstStyle/>
          <a:p>
            <a:r>
              <a:rPr sz="900">
                <a:solidFill>
                  <a:srgbClr val="1E293B"/>
                </a:solidFill>
              </a:rPr>
              <a:t>Search 'lambda timeout' and find it in seconds</a:t>
            </a:r>
          </a:p>
        </p:txBody>
      </p:sp>
      <p:sp>
        <p:nvSpPr>
          <p:cNvPr id="29" name="Rectangle 28"/>
          <p:cNvSpPr/>
          <p:nvPr/>
        </p:nvSpPr>
        <p:spPr>
          <a:xfrm>
            <a:off x="7056913638240" y="2448306"/>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56913839408" y="2414016"/>
            <a:ext cx="3346703" cy="256032"/>
          </a:xfrm>
          <a:prstGeom prst="rect">
            <a:avLst/>
          </a:prstGeom>
          <a:noFill/>
        </p:spPr>
        <p:txBody>
          <a:bodyPr wrap="square">
            <a:spAutoFit/>
          </a:bodyPr>
          <a:lstStyle/>
          <a:p>
            <a:r>
              <a:rPr sz="900">
                <a:solidFill>
                  <a:srgbClr val="1E293B"/>
                </a:solidFill>
              </a:rPr>
              <a:t>Filter by service: amazon-ec2, aws-lambda, amazon-rds…</a:t>
            </a:r>
          </a:p>
        </p:txBody>
      </p:sp>
      <p:sp>
        <p:nvSpPr>
          <p:cNvPr id="31" name="Rectangle 30"/>
          <p:cNvSpPr/>
          <p:nvPr/>
        </p:nvSpPr>
        <p:spPr>
          <a:xfrm>
            <a:off x="411480" y="1588643172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1588643172720"/>
            <a:ext cx="73152" cy="1645920"/>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1588643264160"/>
            <a:ext cx="3547871" cy="274320"/>
          </a:xfrm>
          <a:prstGeom prst="rect">
            <a:avLst/>
          </a:prstGeom>
          <a:noFill/>
        </p:spPr>
        <p:txBody>
          <a:bodyPr wrap="square">
            <a:spAutoFit/>
          </a:bodyPr>
          <a:lstStyle/>
          <a:p>
            <a:pPr algn="l"/>
            <a:r>
              <a:rPr sz="1300" b="1" i="0">
                <a:solidFill>
                  <a:srgbClr val="1E293B"/>
                </a:solidFill>
              </a:rPr>
              <a:t>Feature Type Classification</a:t>
            </a:r>
          </a:p>
        </p:txBody>
      </p:sp>
      <p:sp>
        <p:nvSpPr>
          <p:cNvPr id="34" name="TextBox 33"/>
          <p:cNvSpPr txBox="1"/>
          <p:nvPr/>
        </p:nvSpPr>
        <p:spPr>
          <a:xfrm>
            <a:off x="548640" y="1588643556768"/>
            <a:ext cx="3547871" cy="512064"/>
          </a:xfrm>
          <a:prstGeom prst="rect">
            <a:avLst/>
          </a:prstGeom>
          <a:noFill/>
        </p:spPr>
        <p:txBody>
          <a:bodyPr wrap="square">
            <a:spAutoFit/>
          </a:bodyPr>
          <a:lstStyle/>
          <a:p>
            <a:pPr algn="l"/>
            <a:r>
              <a:rPr sz="950" b="0" i="0">
                <a:solidFill>
                  <a:srgbClr val="64748B"/>
                </a:solidFill>
              </a:rPr>
              <a:t>Bedrock classifies every announcement into one of 8 types so admins can instantly filter for what matters most to their team.</a:t>
            </a:r>
          </a:p>
        </p:txBody>
      </p:sp>
      <p:sp>
        <p:nvSpPr>
          <p:cNvPr id="35" name="Rectangle 34"/>
          <p:cNvSpPr/>
          <p:nvPr/>
        </p:nvSpPr>
        <p:spPr>
          <a:xfrm>
            <a:off x="548640" y="1588644139698"/>
            <a:ext cx="109728" cy="109728"/>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1588644105408"/>
            <a:ext cx="3346703" cy="256032"/>
          </a:xfrm>
          <a:prstGeom prst="rect">
            <a:avLst/>
          </a:prstGeom>
          <a:noFill/>
        </p:spPr>
        <p:txBody>
          <a:bodyPr wrap="square">
            <a:spAutoFit/>
          </a:bodyPr>
          <a:lstStyle/>
          <a:p>
            <a:r>
              <a:rPr sz="900">
                <a:solidFill>
                  <a:srgbClr val="1E293B"/>
                </a:solidFill>
              </a:rPr>
              <a:t>new-feature · enhancement · preview · general-availability</a:t>
            </a:r>
          </a:p>
        </p:txBody>
      </p:sp>
      <p:sp>
        <p:nvSpPr>
          <p:cNvPr id="37" name="Rectangle 36"/>
          <p:cNvSpPr/>
          <p:nvPr/>
        </p:nvSpPr>
        <p:spPr>
          <a:xfrm>
            <a:off x="548640" y="1588644432306"/>
            <a:ext cx="109728" cy="109728"/>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8" y="1588644398016"/>
            <a:ext cx="3346703" cy="256032"/>
          </a:xfrm>
          <a:prstGeom prst="rect">
            <a:avLst/>
          </a:prstGeom>
          <a:noFill/>
        </p:spPr>
        <p:txBody>
          <a:bodyPr wrap="square">
            <a:spAutoFit/>
          </a:bodyPr>
          <a:lstStyle/>
          <a:p>
            <a:r>
              <a:rPr sz="900">
                <a:solidFill>
                  <a:srgbClr val="1E293B"/>
                </a:solidFill>
              </a:rPr>
              <a:t>deprecation · price-change · region-expansion · integration</a:t>
            </a:r>
          </a:p>
        </p:txBody>
      </p:sp>
      <p:sp>
        <p:nvSpPr>
          <p:cNvPr id="39" name="Rectangle 38"/>
          <p:cNvSpPr/>
          <p:nvPr/>
        </p:nvSpPr>
        <p:spPr>
          <a:xfrm>
            <a:off x="3528456956280" y="1588643172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28456956280" y="1588643172720"/>
            <a:ext cx="73152" cy="16459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28457093440" y="1588643264160"/>
            <a:ext cx="3547871" cy="274320"/>
          </a:xfrm>
          <a:prstGeom prst="rect">
            <a:avLst/>
          </a:prstGeom>
          <a:noFill/>
        </p:spPr>
        <p:txBody>
          <a:bodyPr wrap="square">
            <a:spAutoFit/>
          </a:bodyPr>
          <a:lstStyle/>
          <a:p>
            <a:pPr algn="l"/>
            <a:r>
              <a:rPr sz="1300" b="1" i="0">
                <a:solidFill>
                  <a:srgbClr val="1E293B"/>
                </a:solidFill>
              </a:rPr>
              <a:t>Shareable URLs &amp; Detail Pages</a:t>
            </a:r>
          </a:p>
        </p:txBody>
      </p:sp>
      <p:sp>
        <p:nvSpPr>
          <p:cNvPr id="42" name="TextBox 41"/>
          <p:cNvSpPr txBox="1"/>
          <p:nvPr/>
        </p:nvSpPr>
        <p:spPr>
          <a:xfrm>
            <a:off x="3528457093440" y="1588643556768"/>
            <a:ext cx="3547871" cy="512064"/>
          </a:xfrm>
          <a:prstGeom prst="rect">
            <a:avLst/>
          </a:prstGeom>
          <a:noFill/>
        </p:spPr>
        <p:txBody>
          <a:bodyPr wrap="square">
            <a:spAutoFit/>
          </a:bodyPr>
          <a:lstStyle/>
          <a:p>
            <a:pPr algn="l"/>
            <a:r>
              <a:rPr sz="950" b="0" i="0">
                <a:solidFill>
                  <a:srgbClr val="64748B"/>
                </a:solidFill>
              </a:rPr>
              <a:t>Every search query and feature detail has a unique URL. Share a filtered view with your team or bookmark a specific announcement for later review.</a:t>
            </a:r>
          </a:p>
        </p:txBody>
      </p:sp>
      <p:sp>
        <p:nvSpPr>
          <p:cNvPr id="43" name="Rectangle 42"/>
          <p:cNvSpPr/>
          <p:nvPr/>
        </p:nvSpPr>
        <p:spPr>
          <a:xfrm>
            <a:off x="3528457093440" y="1588644139698"/>
            <a:ext cx="109728" cy="10972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28457294608" y="1588644105408"/>
            <a:ext cx="3346703" cy="256032"/>
          </a:xfrm>
          <a:prstGeom prst="rect">
            <a:avLst/>
          </a:prstGeom>
          <a:noFill/>
        </p:spPr>
        <p:txBody>
          <a:bodyPr wrap="square">
            <a:spAutoFit/>
          </a:bodyPr>
          <a:lstStyle/>
          <a:p>
            <a:r>
              <a:rPr sz="900">
                <a:solidFill>
                  <a:srgbClr val="1E293B"/>
                </a:solidFill>
              </a:rPr>
              <a:t>URL encodes all filters — copy/paste to share with colleagues</a:t>
            </a:r>
          </a:p>
        </p:txBody>
      </p:sp>
      <p:sp>
        <p:nvSpPr>
          <p:cNvPr id="45" name="Rectangle 44"/>
          <p:cNvSpPr/>
          <p:nvPr/>
        </p:nvSpPr>
        <p:spPr>
          <a:xfrm>
            <a:off x="3528457093440" y="1588644432306"/>
            <a:ext cx="109728" cy="10972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528457294608" y="1588644398016"/>
            <a:ext cx="3346703" cy="256032"/>
          </a:xfrm>
          <a:prstGeom prst="rect">
            <a:avLst/>
          </a:prstGeom>
          <a:noFill/>
        </p:spPr>
        <p:txBody>
          <a:bodyPr wrap="square">
            <a:spAutoFit/>
          </a:bodyPr>
          <a:lstStyle/>
          <a:p>
            <a:r>
              <a:rPr sz="900">
                <a:solidFill>
                  <a:srgbClr val="1E293B"/>
                </a:solidFill>
              </a:rPr>
              <a:t>Detail page shows full summary, all key points, and AWS link</a:t>
            </a:r>
          </a:p>
        </p:txBody>
      </p:sp>
      <p:sp>
        <p:nvSpPr>
          <p:cNvPr id="47" name="Rectangle 46"/>
          <p:cNvSpPr/>
          <p:nvPr/>
        </p:nvSpPr>
        <p:spPr>
          <a:xfrm>
            <a:off x="7056913501080" y="1588643172720"/>
            <a:ext cx="3749039" cy="1645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056913501080" y="1588643172720"/>
            <a:ext cx="73152" cy="16459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56913638240" y="1588643264160"/>
            <a:ext cx="3547871" cy="274320"/>
          </a:xfrm>
          <a:prstGeom prst="rect">
            <a:avLst/>
          </a:prstGeom>
          <a:noFill/>
        </p:spPr>
        <p:txBody>
          <a:bodyPr wrap="square">
            <a:spAutoFit/>
          </a:bodyPr>
          <a:lstStyle/>
          <a:p>
            <a:pPr algn="l"/>
            <a:r>
              <a:rPr sz="1300" b="1" i="0">
                <a:solidFill>
                  <a:srgbClr val="1E293B"/>
                </a:solidFill>
              </a:rPr>
              <a:t>Operational Reliability</a:t>
            </a:r>
          </a:p>
        </p:txBody>
      </p:sp>
      <p:sp>
        <p:nvSpPr>
          <p:cNvPr id="50" name="TextBox 49"/>
          <p:cNvSpPr txBox="1"/>
          <p:nvPr/>
        </p:nvSpPr>
        <p:spPr>
          <a:xfrm>
            <a:off x="7056913638240" y="1588643556768"/>
            <a:ext cx="3547871" cy="512064"/>
          </a:xfrm>
          <a:prstGeom prst="rect">
            <a:avLst/>
          </a:prstGeom>
          <a:noFill/>
        </p:spPr>
        <p:txBody>
          <a:bodyPr wrap="square">
            <a:spAutoFit/>
          </a:bodyPr>
          <a:lstStyle/>
          <a:p>
            <a:pPr algn="l"/>
            <a:r>
              <a:rPr sz="950" b="0" i="0">
                <a:solidFill>
                  <a:srgbClr val="64748B"/>
                </a:solidFill>
              </a:rPr>
              <a:t>SQS DLQ catches failed summaries, CloudWatch alarms fire on errors, and IAM least-privilege policies protect all resources.</a:t>
            </a:r>
          </a:p>
        </p:txBody>
      </p:sp>
      <p:sp>
        <p:nvSpPr>
          <p:cNvPr id="51" name="Rectangle 50"/>
          <p:cNvSpPr/>
          <p:nvPr/>
        </p:nvSpPr>
        <p:spPr>
          <a:xfrm>
            <a:off x="7056913638240" y="1588644139698"/>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56913839408" y="1588644105408"/>
            <a:ext cx="3346703" cy="256032"/>
          </a:xfrm>
          <a:prstGeom prst="rect">
            <a:avLst/>
          </a:prstGeom>
          <a:noFill/>
        </p:spPr>
        <p:txBody>
          <a:bodyPr wrap="square">
            <a:spAutoFit/>
          </a:bodyPr>
          <a:lstStyle/>
          <a:p>
            <a:r>
              <a:rPr sz="900">
                <a:solidFill>
                  <a:srgbClr val="1E293B"/>
                </a:solidFill>
              </a:rPr>
              <a:t>DLQ retries up to 3× before dead-lettering</a:t>
            </a:r>
          </a:p>
        </p:txBody>
      </p:sp>
      <p:sp>
        <p:nvSpPr>
          <p:cNvPr id="53" name="Rectangle 52"/>
          <p:cNvSpPr/>
          <p:nvPr/>
        </p:nvSpPr>
        <p:spPr>
          <a:xfrm>
            <a:off x="7056913638240" y="1588644432306"/>
            <a:ext cx="109728" cy="10972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56913839408" y="1588644398016"/>
            <a:ext cx="3346703" cy="256032"/>
          </a:xfrm>
          <a:prstGeom prst="rect">
            <a:avLst/>
          </a:prstGeom>
          <a:noFill/>
        </p:spPr>
        <p:txBody>
          <a:bodyPr wrap="square">
            <a:spAutoFit/>
          </a:bodyPr>
          <a:lstStyle/>
          <a:p>
            <a:r>
              <a:rPr sz="900">
                <a:solidFill>
                  <a:srgbClr val="1E293B"/>
                </a:solidFill>
              </a:rPr>
              <a:t>CloudWatch alarms on Summarizer errors and DLQ depth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LIVE DEMO — SEARCH &amp; DISCOVERY</a:t>
            </a:r>
          </a:p>
        </p:txBody>
      </p:sp>
      <p:sp>
        <p:nvSpPr>
          <p:cNvPr id="5" name="TextBox 4"/>
          <p:cNvSpPr txBox="1"/>
          <p:nvPr/>
        </p:nvSpPr>
        <p:spPr>
          <a:xfrm>
            <a:off x="502920" y="402336"/>
            <a:ext cx="8229600" cy="438912"/>
          </a:xfrm>
          <a:prstGeom prst="rect">
            <a:avLst/>
          </a:prstGeom>
          <a:noFill/>
        </p:spPr>
        <p:txBody>
          <a:bodyPr wrap="square">
            <a:spAutoFit/>
          </a:bodyPr>
          <a:lstStyle/>
          <a:p>
            <a:pPr algn="l"/>
            <a:r>
              <a:rPr sz="2200" b="1" i="0">
                <a:solidFill>
                  <a:srgbClr val="FFFFFF"/>
                </a:solidFill>
              </a:rPr>
              <a:t>Main Dashboard — Browse &amp; Search All AWS Announcements</a:t>
            </a:r>
          </a:p>
        </p:txBody>
      </p:sp>
      <p:pic>
        <p:nvPicPr>
          <p:cNvPr id="6" name="Picture 5" descr="screen_search.png"/>
          <p:cNvPicPr>
            <a:picLocks noChangeAspect="1"/>
          </p:cNvPicPr>
          <p:nvPr/>
        </p:nvPicPr>
        <p:blipFill>
          <a:blip r:embed="rId2"/>
          <a:stretch>
            <a:fillRect/>
          </a:stretch>
        </p:blipFill>
        <p:spPr>
          <a:xfrm>
            <a:off x="320040" y="914400"/>
            <a:ext cx="11567160" cy="5440680"/>
          </a:xfrm>
          <a:prstGeom prst="rect">
            <a:avLst/>
          </a:prstGeom>
        </p:spPr>
      </p:pic>
      <p:sp>
        <p:nvSpPr>
          <p:cNvPr id="7" name="Rectangle 6"/>
          <p:cNvSpPr/>
          <p:nvPr/>
        </p:nvSpPr>
        <p:spPr>
          <a:xfrm>
            <a:off x="36576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996696"/>
            <a:ext cx="2743200" cy="237744"/>
          </a:xfrm>
          <a:prstGeom prst="rect">
            <a:avLst/>
          </a:prstGeom>
          <a:noFill/>
        </p:spPr>
        <p:txBody>
          <a:bodyPr wrap="square">
            <a:spAutoFit/>
          </a:bodyPr>
          <a:lstStyle/>
          <a:p>
            <a:pPr algn="l"/>
            <a:r>
              <a:rPr sz="900" b="0" i="0">
                <a:solidFill>
                  <a:srgbClr val="FF9900"/>
                </a:solidFill>
              </a:rPr>
              <a:t>▶  Live search bar with 300ms debounce</a:t>
            </a:r>
          </a:p>
        </p:txBody>
      </p:sp>
      <p:sp>
        <p:nvSpPr>
          <p:cNvPr id="9" name="Rectangle 8"/>
          <p:cNvSpPr/>
          <p:nvPr/>
        </p:nvSpPr>
        <p:spPr>
          <a:xfrm>
            <a:off x="36576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453896"/>
            <a:ext cx="2743200" cy="237744"/>
          </a:xfrm>
          <a:prstGeom prst="rect">
            <a:avLst/>
          </a:prstGeom>
          <a:noFill/>
        </p:spPr>
        <p:txBody>
          <a:bodyPr wrap="square">
            <a:spAutoFit/>
          </a:bodyPr>
          <a:lstStyle/>
          <a:p>
            <a:pPr algn="l"/>
            <a:r>
              <a:rPr sz="900" b="0" i="0">
                <a:solidFill>
                  <a:srgbClr val="FF9900"/>
                </a:solidFill>
              </a:rPr>
              <a:t>▶  Smart filters: service, type, date range, sort order</a:t>
            </a:r>
          </a:p>
        </p:txBody>
      </p:sp>
      <p:sp>
        <p:nvSpPr>
          <p:cNvPr id="11" name="Rectangle 10"/>
          <p:cNvSpPr/>
          <p:nvPr/>
        </p:nvSpPr>
        <p:spPr>
          <a:xfrm>
            <a:off x="36576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956816"/>
            <a:ext cx="2743200" cy="237744"/>
          </a:xfrm>
          <a:prstGeom prst="rect">
            <a:avLst/>
          </a:prstGeom>
          <a:noFill/>
        </p:spPr>
        <p:txBody>
          <a:bodyPr wrap="square">
            <a:spAutoFit/>
          </a:bodyPr>
          <a:lstStyle/>
          <a:p>
            <a:pPr algn="l"/>
            <a:r>
              <a:rPr sz="900" b="0" i="0">
                <a:solidFill>
                  <a:srgbClr val="FF9900"/>
                </a:solidFill>
              </a:rPr>
              <a:t>▶  Result count always visible</a:t>
            </a:r>
          </a:p>
        </p:txBody>
      </p:sp>
      <p:sp>
        <p:nvSpPr>
          <p:cNvPr id="13" name="Rectangle 12"/>
          <p:cNvSpPr/>
          <p:nvPr/>
        </p:nvSpPr>
        <p:spPr>
          <a:xfrm>
            <a:off x="832104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996696"/>
            <a:ext cx="2743200" cy="237744"/>
          </a:xfrm>
          <a:prstGeom prst="rect">
            <a:avLst/>
          </a:prstGeom>
          <a:noFill/>
        </p:spPr>
        <p:txBody>
          <a:bodyPr wrap="square">
            <a:spAutoFit/>
          </a:bodyPr>
          <a:lstStyle/>
          <a:p>
            <a:pPr algn="l"/>
            <a:r>
              <a:rPr sz="900" b="0" i="0">
                <a:solidFill>
                  <a:srgbClr val="FF9900"/>
                </a:solidFill>
              </a:rPr>
              <a:t>▶  Color-coded feature type badges</a:t>
            </a:r>
          </a:p>
        </p:txBody>
      </p:sp>
      <p:sp>
        <p:nvSpPr>
          <p:cNvPr id="15" name="Rectangle 14"/>
          <p:cNvSpPr/>
          <p:nvPr/>
        </p:nvSpPr>
        <p:spPr>
          <a:xfrm>
            <a:off x="832104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4192" y="1453896"/>
            <a:ext cx="2743200" cy="237744"/>
          </a:xfrm>
          <a:prstGeom prst="rect">
            <a:avLst/>
          </a:prstGeom>
          <a:noFill/>
        </p:spPr>
        <p:txBody>
          <a:bodyPr wrap="square">
            <a:spAutoFit/>
          </a:bodyPr>
          <a:lstStyle/>
          <a:p>
            <a:pPr algn="l"/>
            <a:r>
              <a:rPr sz="900" b="0" i="0">
                <a:solidFill>
                  <a:srgbClr val="FF9900"/>
                </a:solidFill>
              </a:rPr>
              <a:t>▶  AI-extracted key points on hover</a:t>
            </a:r>
          </a:p>
        </p:txBody>
      </p:sp>
      <p:sp>
        <p:nvSpPr>
          <p:cNvPr id="17" name="Rectangle 16"/>
          <p:cNvSpPr/>
          <p:nvPr/>
        </p:nvSpPr>
        <p:spPr>
          <a:xfrm>
            <a:off x="832104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956816"/>
            <a:ext cx="2743200" cy="237744"/>
          </a:xfrm>
          <a:prstGeom prst="rect">
            <a:avLst/>
          </a:prstGeom>
          <a:noFill/>
        </p:spPr>
        <p:txBody>
          <a:bodyPr wrap="square">
            <a:spAutoFit/>
          </a:bodyPr>
          <a:lstStyle/>
          <a:p>
            <a:pPr algn="l"/>
            <a:r>
              <a:rPr sz="900" b="0" i="0">
                <a:solidFill>
                  <a:srgbClr val="FF9900"/>
                </a:solidFill>
              </a:rPr>
              <a:t>▶  Direct AWS announcement link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LIVE DEMO — FEATURE DETAIL</a:t>
            </a:r>
          </a:p>
        </p:txBody>
      </p:sp>
      <p:sp>
        <p:nvSpPr>
          <p:cNvPr id="5" name="TextBox 4"/>
          <p:cNvSpPr txBox="1"/>
          <p:nvPr/>
        </p:nvSpPr>
        <p:spPr>
          <a:xfrm>
            <a:off x="502920" y="402336"/>
            <a:ext cx="8229600" cy="438912"/>
          </a:xfrm>
          <a:prstGeom prst="rect">
            <a:avLst/>
          </a:prstGeom>
          <a:noFill/>
        </p:spPr>
        <p:txBody>
          <a:bodyPr wrap="square">
            <a:spAutoFit/>
          </a:bodyPr>
          <a:lstStyle/>
          <a:p>
            <a:pPr algn="l"/>
            <a:r>
              <a:rPr sz="2200" b="1" i="0">
                <a:solidFill>
                  <a:srgbClr val="FFFFFF"/>
                </a:solidFill>
              </a:rPr>
              <a:t>Feature Detail Page — Deep-Dive Into Any Announcement</a:t>
            </a:r>
          </a:p>
        </p:txBody>
      </p:sp>
      <p:pic>
        <p:nvPicPr>
          <p:cNvPr id="6" name="Picture 5" descr="screen_detail.png"/>
          <p:cNvPicPr>
            <a:picLocks noChangeAspect="1"/>
          </p:cNvPicPr>
          <p:nvPr/>
        </p:nvPicPr>
        <p:blipFill>
          <a:blip r:embed="rId2"/>
          <a:stretch>
            <a:fillRect/>
          </a:stretch>
        </p:blipFill>
        <p:spPr>
          <a:xfrm>
            <a:off x="320040" y="914400"/>
            <a:ext cx="11567160" cy="5440680"/>
          </a:xfrm>
          <a:prstGeom prst="rect">
            <a:avLst/>
          </a:prstGeom>
        </p:spPr>
      </p:pic>
      <p:sp>
        <p:nvSpPr>
          <p:cNvPr id="7" name="Rectangle 6"/>
          <p:cNvSpPr/>
          <p:nvPr/>
        </p:nvSpPr>
        <p:spPr>
          <a:xfrm>
            <a:off x="36576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996696"/>
            <a:ext cx="2743200" cy="237744"/>
          </a:xfrm>
          <a:prstGeom prst="rect">
            <a:avLst/>
          </a:prstGeom>
          <a:noFill/>
        </p:spPr>
        <p:txBody>
          <a:bodyPr wrap="square">
            <a:spAutoFit/>
          </a:bodyPr>
          <a:lstStyle/>
          <a:p>
            <a:pPr algn="l"/>
            <a:r>
              <a:rPr sz="900" b="0" i="0">
                <a:solidFill>
                  <a:srgbClr val="FF9900"/>
                </a:solidFill>
              </a:rPr>
              <a:t>▶  Context badges: date · service · domain · type</a:t>
            </a:r>
          </a:p>
        </p:txBody>
      </p:sp>
      <p:sp>
        <p:nvSpPr>
          <p:cNvPr id="9" name="Rectangle 8"/>
          <p:cNvSpPr/>
          <p:nvPr/>
        </p:nvSpPr>
        <p:spPr>
          <a:xfrm>
            <a:off x="36576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453896"/>
            <a:ext cx="2743200" cy="237744"/>
          </a:xfrm>
          <a:prstGeom prst="rect">
            <a:avLst/>
          </a:prstGeom>
          <a:noFill/>
        </p:spPr>
        <p:txBody>
          <a:bodyPr wrap="square">
            <a:spAutoFit/>
          </a:bodyPr>
          <a:lstStyle/>
          <a:p>
            <a:pPr algn="l"/>
            <a:r>
              <a:rPr sz="900" b="0" i="0">
                <a:solidFill>
                  <a:srgbClr val="FF9900"/>
                </a:solidFill>
              </a:rPr>
              <a:t>▶  3–5 sentence AI summary, engineer-focused</a:t>
            </a:r>
          </a:p>
        </p:txBody>
      </p:sp>
      <p:sp>
        <p:nvSpPr>
          <p:cNvPr id="11" name="Rectangle 10"/>
          <p:cNvSpPr/>
          <p:nvPr/>
        </p:nvSpPr>
        <p:spPr>
          <a:xfrm>
            <a:off x="36576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956816"/>
            <a:ext cx="2743200" cy="237744"/>
          </a:xfrm>
          <a:prstGeom prst="rect">
            <a:avLst/>
          </a:prstGeom>
          <a:noFill/>
        </p:spPr>
        <p:txBody>
          <a:bodyPr wrap="square">
            <a:spAutoFit/>
          </a:bodyPr>
          <a:lstStyle/>
          <a:p>
            <a:pPr algn="l"/>
            <a:r>
              <a:rPr sz="900" b="0" i="0">
                <a:solidFill>
                  <a:srgbClr val="FF9900"/>
                </a:solidFill>
              </a:rPr>
              <a:t>▶  Structured key points for rapid evaluation</a:t>
            </a:r>
          </a:p>
        </p:txBody>
      </p:sp>
      <p:sp>
        <p:nvSpPr>
          <p:cNvPr id="13" name="Rectangle 12"/>
          <p:cNvSpPr/>
          <p:nvPr/>
        </p:nvSpPr>
        <p:spPr>
          <a:xfrm>
            <a:off x="832104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996696"/>
            <a:ext cx="2743200" cy="237744"/>
          </a:xfrm>
          <a:prstGeom prst="rect">
            <a:avLst/>
          </a:prstGeom>
          <a:noFill/>
        </p:spPr>
        <p:txBody>
          <a:bodyPr wrap="square">
            <a:spAutoFit/>
          </a:bodyPr>
          <a:lstStyle/>
          <a:p>
            <a:pPr algn="l"/>
            <a:r>
              <a:rPr sz="900" b="0" i="0">
                <a:solidFill>
                  <a:srgbClr val="FF9900"/>
                </a:solidFill>
              </a:rPr>
              <a:t>▶  Link to original AWS announcement</a:t>
            </a:r>
          </a:p>
        </p:txBody>
      </p:sp>
      <p:sp>
        <p:nvSpPr>
          <p:cNvPr id="15" name="Rectangle 14"/>
          <p:cNvSpPr/>
          <p:nvPr/>
        </p:nvSpPr>
        <p:spPr>
          <a:xfrm>
            <a:off x="832104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4192" y="1453896"/>
            <a:ext cx="2743200" cy="237744"/>
          </a:xfrm>
          <a:prstGeom prst="rect">
            <a:avLst/>
          </a:prstGeom>
          <a:noFill/>
        </p:spPr>
        <p:txBody>
          <a:bodyPr wrap="square">
            <a:spAutoFit/>
          </a:bodyPr>
          <a:lstStyle/>
          <a:p>
            <a:pPr algn="l"/>
            <a:r>
              <a:rPr sz="900" b="0" i="0">
                <a:solidFill>
                  <a:srgbClr val="FF9900"/>
                </a:solidFill>
              </a:rPr>
              <a:t>▶  Back button preserves search state</a:t>
            </a:r>
          </a:p>
        </p:txBody>
      </p:sp>
      <p:sp>
        <p:nvSpPr>
          <p:cNvPr id="17" name="Rectangle 16"/>
          <p:cNvSpPr/>
          <p:nvPr/>
        </p:nvSpPr>
        <p:spPr>
          <a:xfrm>
            <a:off x="832104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956816"/>
            <a:ext cx="2743200" cy="237744"/>
          </a:xfrm>
          <a:prstGeom prst="rect">
            <a:avLst/>
          </a:prstGeom>
          <a:noFill/>
        </p:spPr>
        <p:txBody>
          <a:bodyPr wrap="square">
            <a:spAutoFit/>
          </a:bodyPr>
          <a:lstStyle/>
          <a:p>
            <a:pPr algn="l"/>
            <a:r>
              <a:rPr sz="900" b="0" i="0">
                <a:solidFill>
                  <a:srgbClr val="FF9900"/>
                </a:solidFill>
              </a:rPr>
              <a:t>▶  Summarized-at timestamp for auditability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LIVE DEMO — FILTER &amp; SEARCH IN ACTION</a:t>
            </a:r>
          </a:p>
        </p:txBody>
      </p:sp>
      <p:sp>
        <p:nvSpPr>
          <p:cNvPr id="5" name="TextBox 4"/>
          <p:cNvSpPr txBox="1"/>
          <p:nvPr/>
        </p:nvSpPr>
        <p:spPr>
          <a:xfrm>
            <a:off x="502920" y="402336"/>
            <a:ext cx="8229600" cy="438912"/>
          </a:xfrm>
          <a:prstGeom prst="rect">
            <a:avLst/>
          </a:prstGeom>
          <a:noFill/>
        </p:spPr>
        <p:txBody>
          <a:bodyPr wrap="square">
            <a:spAutoFit/>
          </a:bodyPr>
          <a:lstStyle/>
          <a:p>
            <a:pPr algn="l"/>
            <a:r>
              <a:rPr sz="2200" b="1" i="0">
                <a:solidFill>
                  <a:srgbClr val="FFFFFF"/>
                </a:solidFill>
              </a:rPr>
              <a:t>Filtered View — 'bedrock' · service: amazon-bedrock · type: new-feature</a:t>
            </a:r>
          </a:p>
        </p:txBody>
      </p:sp>
      <p:pic>
        <p:nvPicPr>
          <p:cNvPr id="6" name="Picture 5" descr="screen_filtered.png"/>
          <p:cNvPicPr>
            <a:picLocks noChangeAspect="1"/>
          </p:cNvPicPr>
          <p:nvPr/>
        </p:nvPicPr>
        <p:blipFill>
          <a:blip r:embed="rId2"/>
          <a:stretch>
            <a:fillRect/>
          </a:stretch>
        </p:blipFill>
        <p:spPr>
          <a:xfrm>
            <a:off x="320040" y="914400"/>
            <a:ext cx="11567160" cy="5440680"/>
          </a:xfrm>
          <a:prstGeom prst="rect">
            <a:avLst/>
          </a:prstGeom>
        </p:spPr>
      </p:pic>
      <p:sp>
        <p:nvSpPr>
          <p:cNvPr id="7" name="Rectangle 6"/>
          <p:cNvSpPr/>
          <p:nvPr/>
        </p:nvSpPr>
        <p:spPr>
          <a:xfrm>
            <a:off x="36576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 y="996696"/>
            <a:ext cx="2743200" cy="237744"/>
          </a:xfrm>
          <a:prstGeom prst="rect">
            <a:avLst/>
          </a:prstGeom>
          <a:noFill/>
        </p:spPr>
        <p:txBody>
          <a:bodyPr wrap="square">
            <a:spAutoFit/>
          </a:bodyPr>
          <a:lstStyle/>
          <a:p>
            <a:pPr algn="l"/>
            <a:r>
              <a:rPr sz="900" b="0" i="0">
                <a:solidFill>
                  <a:srgbClr val="FF9900"/>
                </a:solidFill>
              </a:rPr>
              <a:t>▶  Keyword search highlights matching records</a:t>
            </a:r>
          </a:p>
        </p:txBody>
      </p:sp>
      <p:sp>
        <p:nvSpPr>
          <p:cNvPr id="9" name="Rectangle 8"/>
          <p:cNvSpPr/>
          <p:nvPr/>
        </p:nvSpPr>
        <p:spPr>
          <a:xfrm>
            <a:off x="36576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453896"/>
            <a:ext cx="2743200" cy="237744"/>
          </a:xfrm>
          <a:prstGeom prst="rect">
            <a:avLst/>
          </a:prstGeom>
          <a:noFill/>
        </p:spPr>
        <p:txBody>
          <a:bodyPr wrap="square">
            <a:spAutoFit/>
          </a:bodyPr>
          <a:lstStyle/>
          <a:p>
            <a:pPr algn="l"/>
            <a:r>
              <a:rPr sz="900" b="0" i="0">
                <a:solidFill>
                  <a:srgbClr val="FF9900"/>
                </a:solidFill>
              </a:rPr>
              <a:t>▶  Active filter pills shown in header</a:t>
            </a:r>
          </a:p>
        </p:txBody>
      </p:sp>
      <p:sp>
        <p:nvSpPr>
          <p:cNvPr id="11" name="Rectangle 10"/>
          <p:cNvSpPr/>
          <p:nvPr/>
        </p:nvSpPr>
        <p:spPr>
          <a:xfrm>
            <a:off x="36576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956816"/>
            <a:ext cx="2743200" cy="237744"/>
          </a:xfrm>
          <a:prstGeom prst="rect">
            <a:avLst/>
          </a:prstGeom>
          <a:noFill/>
        </p:spPr>
        <p:txBody>
          <a:bodyPr wrap="square">
            <a:spAutoFit/>
          </a:bodyPr>
          <a:lstStyle/>
          <a:p>
            <a:pPr algn="l"/>
            <a:r>
              <a:rPr sz="900" b="0" i="0">
                <a:solidFill>
                  <a:srgbClr val="FF9900"/>
                </a:solidFill>
              </a:rPr>
              <a:t>▶  Result count updates in real-time</a:t>
            </a:r>
          </a:p>
        </p:txBody>
      </p:sp>
      <p:sp>
        <p:nvSpPr>
          <p:cNvPr id="13" name="Rectangle 12"/>
          <p:cNvSpPr/>
          <p:nvPr/>
        </p:nvSpPr>
        <p:spPr>
          <a:xfrm>
            <a:off x="8321040" y="9601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996696"/>
            <a:ext cx="2743200" cy="237744"/>
          </a:xfrm>
          <a:prstGeom prst="rect">
            <a:avLst/>
          </a:prstGeom>
          <a:noFill/>
        </p:spPr>
        <p:txBody>
          <a:bodyPr wrap="square">
            <a:spAutoFit/>
          </a:bodyPr>
          <a:lstStyle/>
          <a:p>
            <a:pPr algn="l"/>
            <a:r>
              <a:rPr sz="900" b="0" i="0">
                <a:solidFill>
                  <a:srgbClr val="FF9900"/>
                </a:solidFill>
              </a:rPr>
              <a:t>▶  URL captures all filters — fully shareable</a:t>
            </a:r>
          </a:p>
        </p:txBody>
      </p:sp>
      <p:sp>
        <p:nvSpPr>
          <p:cNvPr id="15" name="Rectangle 14"/>
          <p:cNvSpPr/>
          <p:nvPr/>
        </p:nvSpPr>
        <p:spPr>
          <a:xfrm>
            <a:off x="8321040" y="141732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4192" y="1453896"/>
            <a:ext cx="2743200" cy="237744"/>
          </a:xfrm>
          <a:prstGeom prst="rect">
            <a:avLst/>
          </a:prstGeom>
          <a:noFill/>
        </p:spPr>
        <p:txBody>
          <a:bodyPr wrap="square">
            <a:spAutoFit/>
          </a:bodyPr>
          <a:lstStyle/>
          <a:p>
            <a:pPr algn="l"/>
            <a:r>
              <a:rPr sz="900" b="0" i="0">
                <a:solidFill>
                  <a:srgbClr val="FF9900"/>
                </a:solidFill>
              </a:rPr>
              <a:t>▶  Infinite scroll loads next page automatically</a:t>
            </a:r>
          </a:p>
        </p:txBody>
      </p:sp>
      <p:sp>
        <p:nvSpPr>
          <p:cNvPr id="17" name="Rectangle 16"/>
          <p:cNvSpPr/>
          <p:nvPr/>
        </p:nvSpPr>
        <p:spPr>
          <a:xfrm>
            <a:off x="8321040" y="1920240"/>
            <a:ext cx="2834640" cy="27432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956816"/>
            <a:ext cx="2743200" cy="237744"/>
          </a:xfrm>
          <a:prstGeom prst="rect">
            <a:avLst/>
          </a:prstGeom>
          <a:noFill/>
        </p:spPr>
        <p:txBody>
          <a:bodyPr wrap="square">
            <a:spAutoFit/>
          </a:bodyPr>
          <a:lstStyle/>
          <a:p>
            <a:pPr algn="l"/>
            <a:r>
              <a:rPr sz="900" b="0" i="0">
                <a:solidFill>
                  <a:srgbClr val="FF9900"/>
                </a:solidFill>
              </a:rPr>
              <a:t>▶  Works across all 8 feature type categories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0058400" cy="512064"/>
          </a:xfrm>
          <a:prstGeom prst="rect">
            <a:avLst/>
          </a:prstGeom>
          <a:noFill/>
        </p:spPr>
        <p:txBody>
          <a:bodyPr wrap="square">
            <a:spAutoFit/>
          </a:bodyPr>
          <a:lstStyle/>
          <a:p>
            <a:pPr algn="l"/>
            <a:r>
              <a:rPr sz="2700" b="1" i="0">
                <a:solidFill>
                  <a:srgbClr val="FFFFFF"/>
                </a:solidFill>
              </a:rPr>
              <a:t>Real-World Use Cases for AWS Admins</a:t>
            </a:r>
          </a:p>
        </p:txBody>
      </p:sp>
      <p:sp>
        <p:nvSpPr>
          <p:cNvPr id="6" name="TextBox 5"/>
          <p:cNvSpPr txBox="1"/>
          <p:nvPr/>
        </p:nvSpPr>
        <p:spPr>
          <a:xfrm>
            <a:off x="502920" y="694944"/>
            <a:ext cx="10058400" cy="256032"/>
          </a:xfrm>
          <a:prstGeom prst="rect">
            <a:avLst/>
          </a:prstGeom>
          <a:noFill/>
        </p:spPr>
        <p:txBody>
          <a:bodyPr wrap="square">
            <a:spAutoFit/>
          </a:bodyPr>
          <a:lstStyle/>
          <a:p>
            <a:pPr algn="l"/>
            <a:r>
              <a:rPr sz="1300" b="0" i="1">
                <a:solidFill>
                  <a:srgbClr val="FF9900"/>
                </a:solidFill>
              </a:rPr>
              <a:t>From reactive monitoring to proactive innovation — the tracker enables both.</a:t>
            </a:r>
          </a:p>
        </p:txBody>
      </p:sp>
      <p:sp>
        <p:nvSpPr>
          <p:cNvPr id="7" name="Rectangle 6"/>
          <p:cNvSpPr/>
          <p:nvPr/>
        </p:nvSpPr>
        <p:spPr>
          <a:xfrm>
            <a:off x="411480" y="11887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88720"/>
            <a:ext cx="3749039" cy="7315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1316736"/>
            <a:ext cx="3566159" cy="274320"/>
          </a:xfrm>
          <a:prstGeom prst="rect">
            <a:avLst/>
          </a:prstGeom>
          <a:noFill/>
        </p:spPr>
        <p:txBody>
          <a:bodyPr wrap="square">
            <a:spAutoFit/>
          </a:bodyPr>
          <a:lstStyle/>
          <a:p>
            <a:pPr algn="l"/>
            <a:r>
              <a:rPr sz="1300" b="1" i="0">
                <a:solidFill>
                  <a:srgbClr val="1E293B"/>
                </a:solidFill>
              </a:rPr>
              <a:t>Weekly Innovation Review</a:t>
            </a:r>
          </a:p>
        </p:txBody>
      </p:sp>
      <p:sp>
        <p:nvSpPr>
          <p:cNvPr id="10" name="TextBox 9"/>
          <p:cNvSpPr txBox="1"/>
          <p:nvPr/>
        </p:nvSpPr>
        <p:spPr>
          <a:xfrm>
            <a:off x="521208" y="1627632"/>
            <a:ext cx="3566159" cy="804672"/>
          </a:xfrm>
          <a:prstGeom prst="rect">
            <a:avLst/>
          </a:prstGeom>
          <a:noFill/>
        </p:spPr>
        <p:txBody>
          <a:bodyPr wrap="square">
            <a:spAutoFit/>
          </a:bodyPr>
          <a:lstStyle/>
          <a:p>
            <a:pPr algn="l"/>
            <a:r>
              <a:rPr sz="950" b="0" i="0">
                <a:solidFill>
                  <a:srgbClr val="64748B"/>
                </a:solidFill>
              </a:rPr>
              <a:t>Every Monday, the team opens the tracker filtered to 'last 7 days' to review everything AWS shipped. In 15 minutes instead of 2 hours, the team identifies 3-5 features worth piloting.</a:t>
            </a:r>
          </a:p>
        </p:txBody>
      </p:sp>
      <p:sp>
        <p:nvSpPr>
          <p:cNvPr id="11" name="Rectangle 10"/>
          <p:cNvSpPr/>
          <p:nvPr/>
        </p:nvSpPr>
        <p:spPr>
          <a:xfrm>
            <a:off x="521208" y="26700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2688336"/>
            <a:ext cx="3474719" cy="237744"/>
          </a:xfrm>
          <a:prstGeom prst="rect">
            <a:avLst/>
          </a:prstGeom>
          <a:noFill/>
        </p:spPr>
        <p:txBody>
          <a:bodyPr wrap="square">
            <a:spAutoFit/>
          </a:bodyPr>
          <a:lstStyle/>
          <a:p>
            <a:pPr algn="l"/>
            <a:r>
              <a:rPr sz="850" b="0" i="1">
                <a:solidFill>
                  <a:srgbClr val="FF9900"/>
                </a:solidFill>
              </a:rPr>
              <a:t>Filter: from_date=7 days ago · sort=newest</a:t>
            </a:r>
          </a:p>
        </p:txBody>
      </p:sp>
      <p:sp>
        <p:nvSpPr>
          <p:cNvPr id="13" name="Rectangle 12"/>
          <p:cNvSpPr/>
          <p:nvPr/>
        </p:nvSpPr>
        <p:spPr>
          <a:xfrm>
            <a:off x="3528456956280" y="11887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8456956280" y="1188720"/>
            <a:ext cx="3749039" cy="73152"/>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8457066008" y="1316736"/>
            <a:ext cx="3566159" cy="274320"/>
          </a:xfrm>
          <a:prstGeom prst="rect">
            <a:avLst/>
          </a:prstGeom>
          <a:noFill/>
        </p:spPr>
        <p:txBody>
          <a:bodyPr wrap="square">
            <a:spAutoFit/>
          </a:bodyPr>
          <a:lstStyle/>
          <a:p>
            <a:pPr algn="l"/>
            <a:r>
              <a:rPr sz="1300" b="1" i="0">
                <a:solidFill>
                  <a:srgbClr val="1E293B"/>
                </a:solidFill>
              </a:rPr>
              <a:t>Pre-Migration Research</a:t>
            </a:r>
          </a:p>
        </p:txBody>
      </p:sp>
      <p:sp>
        <p:nvSpPr>
          <p:cNvPr id="16" name="TextBox 15"/>
          <p:cNvSpPr txBox="1"/>
          <p:nvPr/>
        </p:nvSpPr>
        <p:spPr>
          <a:xfrm>
            <a:off x="3528457066008" y="1627632"/>
            <a:ext cx="3566159" cy="804672"/>
          </a:xfrm>
          <a:prstGeom prst="rect">
            <a:avLst/>
          </a:prstGeom>
          <a:noFill/>
        </p:spPr>
        <p:txBody>
          <a:bodyPr wrap="square">
            <a:spAutoFit/>
          </a:bodyPr>
          <a:lstStyle/>
          <a:p>
            <a:pPr algn="l"/>
            <a:r>
              <a:rPr sz="950" b="0" i="0">
                <a:solidFill>
                  <a:srgbClr val="64748B"/>
                </a:solidFill>
              </a:rPr>
              <a:t>Before migrating workloads to Graviton4, search 'graviton4' to see all enhancements, GA announcements, and any related price changes — in one scrollable view.</a:t>
            </a:r>
          </a:p>
        </p:txBody>
      </p:sp>
      <p:sp>
        <p:nvSpPr>
          <p:cNvPr id="17" name="Rectangle 16"/>
          <p:cNvSpPr/>
          <p:nvPr/>
        </p:nvSpPr>
        <p:spPr>
          <a:xfrm>
            <a:off x="3528457066008" y="26700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8457120872" y="2688336"/>
            <a:ext cx="3474719" cy="237744"/>
          </a:xfrm>
          <a:prstGeom prst="rect">
            <a:avLst/>
          </a:prstGeom>
          <a:noFill/>
        </p:spPr>
        <p:txBody>
          <a:bodyPr wrap="square">
            <a:spAutoFit/>
          </a:bodyPr>
          <a:lstStyle/>
          <a:p>
            <a:pPr algn="l"/>
            <a:r>
              <a:rPr sz="850" b="0" i="1">
                <a:solidFill>
                  <a:srgbClr val="146EB4"/>
                </a:solidFill>
              </a:rPr>
              <a:t>Search: 'graviton4' · type: general-availability</a:t>
            </a:r>
          </a:p>
        </p:txBody>
      </p:sp>
      <p:sp>
        <p:nvSpPr>
          <p:cNvPr id="19" name="Rectangle 18"/>
          <p:cNvSpPr/>
          <p:nvPr/>
        </p:nvSpPr>
        <p:spPr>
          <a:xfrm>
            <a:off x="7056913501080" y="11887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6913501080" y="1188720"/>
            <a:ext cx="3749039"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6913610808" y="1316736"/>
            <a:ext cx="3566159" cy="274320"/>
          </a:xfrm>
          <a:prstGeom prst="rect">
            <a:avLst/>
          </a:prstGeom>
          <a:noFill/>
        </p:spPr>
        <p:txBody>
          <a:bodyPr wrap="square">
            <a:spAutoFit/>
          </a:bodyPr>
          <a:lstStyle/>
          <a:p>
            <a:pPr algn="l"/>
            <a:r>
              <a:rPr sz="1300" b="1" i="0">
                <a:solidFill>
                  <a:srgbClr val="1E293B"/>
                </a:solidFill>
              </a:rPr>
              <a:t>Deprecation Tracking</a:t>
            </a:r>
          </a:p>
        </p:txBody>
      </p:sp>
      <p:sp>
        <p:nvSpPr>
          <p:cNvPr id="22" name="TextBox 21"/>
          <p:cNvSpPr txBox="1"/>
          <p:nvPr/>
        </p:nvSpPr>
        <p:spPr>
          <a:xfrm>
            <a:off x="7056913610808" y="1627632"/>
            <a:ext cx="3566159" cy="804672"/>
          </a:xfrm>
          <a:prstGeom prst="rect">
            <a:avLst/>
          </a:prstGeom>
          <a:noFill/>
        </p:spPr>
        <p:txBody>
          <a:bodyPr wrap="square">
            <a:spAutoFit/>
          </a:bodyPr>
          <a:lstStyle/>
          <a:p>
            <a:pPr algn="l"/>
            <a:r>
              <a:rPr sz="950" b="0" i="0">
                <a:solidFill>
                  <a:srgbClr val="64748B"/>
                </a:solidFill>
              </a:rPr>
              <a:t>Filter feature_type=deprecation to build a living list of EOL services and features. Share the URL with the architecture team as a standing reference.</a:t>
            </a:r>
          </a:p>
        </p:txBody>
      </p:sp>
      <p:sp>
        <p:nvSpPr>
          <p:cNvPr id="23" name="Rectangle 22"/>
          <p:cNvSpPr/>
          <p:nvPr/>
        </p:nvSpPr>
        <p:spPr>
          <a:xfrm>
            <a:off x="7056913610808" y="26700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6913665672" y="2688336"/>
            <a:ext cx="3474719" cy="237744"/>
          </a:xfrm>
          <a:prstGeom prst="rect">
            <a:avLst/>
          </a:prstGeom>
          <a:noFill/>
        </p:spPr>
        <p:txBody>
          <a:bodyPr wrap="square">
            <a:spAutoFit/>
          </a:bodyPr>
          <a:lstStyle/>
          <a:p>
            <a:pPr algn="l"/>
            <a:r>
              <a:rPr sz="850" b="0" i="1">
                <a:solidFill>
                  <a:srgbClr val="16A34A"/>
                </a:solidFill>
              </a:rPr>
              <a:t>Filter: type=deprecation · sort=oldest</a:t>
            </a:r>
          </a:p>
        </p:txBody>
      </p:sp>
      <p:sp>
        <p:nvSpPr>
          <p:cNvPr id="25" name="Rectangle 24"/>
          <p:cNvSpPr/>
          <p:nvPr/>
        </p:nvSpPr>
        <p:spPr>
          <a:xfrm>
            <a:off x="411480" y="17391460975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1739146097520"/>
            <a:ext cx="3749039" cy="73152"/>
          </a:xfrm>
          <a:prstGeom prst="rect">
            <a:avLst/>
          </a:prstGeom>
          <a:solidFill>
            <a:srgbClr val="0FB5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 y="1739146225536"/>
            <a:ext cx="3566159" cy="274320"/>
          </a:xfrm>
          <a:prstGeom prst="rect">
            <a:avLst/>
          </a:prstGeom>
          <a:noFill/>
        </p:spPr>
        <p:txBody>
          <a:bodyPr wrap="square">
            <a:spAutoFit/>
          </a:bodyPr>
          <a:lstStyle/>
          <a:p>
            <a:pPr algn="l"/>
            <a:r>
              <a:rPr sz="1300" b="1" i="0">
                <a:solidFill>
                  <a:srgbClr val="1E293B"/>
                </a:solidFill>
              </a:rPr>
              <a:t>Cost Optimization Alerts</a:t>
            </a:r>
          </a:p>
        </p:txBody>
      </p:sp>
      <p:sp>
        <p:nvSpPr>
          <p:cNvPr id="28" name="TextBox 27"/>
          <p:cNvSpPr txBox="1"/>
          <p:nvPr/>
        </p:nvSpPr>
        <p:spPr>
          <a:xfrm>
            <a:off x="521208" y="1739146536432"/>
            <a:ext cx="3566159" cy="804672"/>
          </a:xfrm>
          <a:prstGeom prst="rect">
            <a:avLst/>
          </a:prstGeom>
          <a:noFill/>
        </p:spPr>
        <p:txBody>
          <a:bodyPr wrap="square">
            <a:spAutoFit/>
          </a:bodyPr>
          <a:lstStyle/>
          <a:p>
            <a:pPr algn="l"/>
            <a:r>
              <a:rPr sz="950" b="0" i="0">
                <a:solidFill>
                  <a:srgbClr val="64748B"/>
                </a:solidFill>
              </a:rPr>
              <a:t>Filter feature_type=price-change to immediately see DynamoDB, Lambda, and S3 price reductions. Calculate savings and present the business case for migration.</a:t>
            </a:r>
          </a:p>
        </p:txBody>
      </p:sp>
      <p:sp>
        <p:nvSpPr>
          <p:cNvPr id="29" name="Rectangle 28"/>
          <p:cNvSpPr/>
          <p:nvPr/>
        </p:nvSpPr>
        <p:spPr>
          <a:xfrm>
            <a:off x="521208" y="17391475788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6072" y="1739147597136"/>
            <a:ext cx="3474719" cy="237744"/>
          </a:xfrm>
          <a:prstGeom prst="rect">
            <a:avLst/>
          </a:prstGeom>
          <a:noFill/>
        </p:spPr>
        <p:txBody>
          <a:bodyPr wrap="square">
            <a:spAutoFit/>
          </a:bodyPr>
          <a:lstStyle/>
          <a:p>
            <a:pPr algn="l"/>
            <a:r>
              <a:rPr sz="850" b="0" i="1">
                <a:solidFill>
                  <a:srgbClr val="0FB5D4"/>
                </a:solidFill>
              </a:rPr>
              <a:t>Filter: type=price-change</a:t>
            </a:r>
          </a:p>
        </p:txBody>
      </p:sp>
      <p:sp>
        <p:nvSpPr>
          <p:cNvPr id="31" name="Rectangle 30"/>
          <p:cNvSpPr/>
          <p:nvPr/>
        </p:nvSpPr>
        <p:spPr>
          <a:xfrm>
            <a:off x="3528456956280" y="17391460975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528456956280" y="1739146097520"/>
            <a:ext cx="3749039" cy="73152"/>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28457066008" y="1739146225536"/>
            <a:ext cx="3566159" cy="274320"/>
          </a:xfrm>
          <a:prstGeom prst="rect">
            <a:avLst/>
          </a:prstGeom>
          <a:noFill/>
        </p:spPr>
        <p:txBody>
          <a:bodyPr wrap="square">
            <a:spAutoFit/>
          </a:bodyPr>
          <a:lstStyle/>
          <a:p>
            <a:pPr algn="l"/>
            <a:r>
              <a:rPr sz="1300" b="1" i="0">
                <a:solidFill>
                  <a:srgbClr val="1E293B"/>
                </a:solidFill>
              </a:rPr>
              <a:t>New Service Evaluation</a:t>
            </a:r>
          </a:p>
        </p:txBody>
      </p:sp>
      <p:sp>
        <p:nvSpPr>
          <p:cNvPr id="34" name="TextBox 33"/>
          <p:cNvSpPr txBox="1"/>
          <p:nvPr/>
        </p:nvSpPr>
        <p:spPr>
          <a:xfrm>
            <a:off x="3528457066008" y="1739146536432"/>
            <a:ext cx="3566159" cy="804672"/>
          </a:xfrm>
          <a:prstGeom prst="rect">
            <a:avLst/>
          </a:prstGeom>
          <a:noFill/>
        </p:spPr>
        <p:txBody>
          <a:bodyPr wrap="square">
            <a:spAutoFit/>
          </a:bodyPr>
          <a:lstStyle/>
          <a:p>
            <a:pPr algn="l"/>
            <a:r>
              <a:rPr sz="950" b="0" i="0">
                <a:solidFill>
                  <a:srgbClr val="64748B"/>
                </a:solidFill>
              </a:rPr>
              <a:t>When leadership asks 'should we adopt VPC Lattice?', search the tracker to see every feature shipped in the past year, understand the maturity trajectory.</a:t>
            </a:r>
          </a:p>
        </p:txBody>
      </p:sp>
      <p:sp>
        <p:nvSpPr>
          <p:cNvPr id="35" name="Rectangle 34"/>
          <p:cNvSpPr/>
          <p:nvPr/>
        </p:nvSpPr>
        <p:spPr>
          <a:xfrm>
            <a:off x="3528457066008" y="17391475788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28457120872" y="1739147597136"/>
            <a:ext cx="3474719" cy="237744"/>
          </a:xfrm>
          <a:prstGeom prst="rect">
            <a:avLst/>
          </a:prstGeom>
          <a:noFill/>
        </p:spPr>
        <p:txBody>
          <a:bodyPr wrap="square">
            <a:spAutoFit/>
          </a:bodyPr>
          <a:lstStyle/>
          <a:p>
            <a:pPr algn="l"/>
            <a:r>
              <a:rPr sz="850" b="0" i="1">
                <a:solidFill>
                  <a:srgbClr val="8B5CF6"/>
                </a:solidFill>
              </a:rPr>
              <a:t>Search: 'vpc lattice' · date range: 2025-2026</a:t>
            </a:r>
          </a:p>
        </p:txBody>
      </p:sp>
      <p:sp>
        <p:nvSpPr>
          <p:cNvPr id="37" name="Rectangle 36"/>
          <p:cNvSpPr/>
          <p:nvPr/>
        </p:nvSpPr>
        <p:spPr>
          <a:xfrm>
            <a:off x="7056913501080" y="1739146097520"/>
            <a:ext cx="3749039" cy="18288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56913501080" y="1739146097520"/>
            <a:ext cx="3749039"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56913610808" y="1739146225536"/>
            <a:ext cx="3566159" cy="274320"/>
          </a:xfrm>
          <a:prstGeom prst="rect">
            <a:avLst/>
          </a:prstGeom>
          <a:noFill/>
        </p:spPr>
        <p:txBody>
          <a:bodyPr wrap="square">
            <a:spAutoFit/>
          </a:bodyPr>
          <a:lstStyle/>
          <a:p>
            <a:pPr algn="l"/>
            <a:r>
              <a:rPr sz="1300" b="1" i="0">
                <a:solidFill>
                  <a:srgbClr val="1E293B"/>
                </a:solidFill>
              </a:rPr>
              <a:t>Region Expansion Planning</a:t>
            </a:r>
          </a:p>
        </p:txBody>
      </p:sp>
      <p:sp>
        <p:nvSpPr>
          <p:cNvPr id="40" name="TextBox 39"/>
          <p:cNvSpPr txBox="1"/>
          <p:nvPr/>
        </p:nvSpPr>
        <p:spPr>
          <a:xfrm>
            <a:off x="7056913610808" y="1739146536432"/>
            <a:ext cx="3566159" cy="804672"/>
          </a:xfrm>
          <a:prstGeom prst="rect">
            <a:avLst/>
          </a:prstGeom>
          <a:noFill/>
        </p:spPr>
        <p:txBody>
          <a:bodyPr wrap="square">
            <a:spAutoFit/>
          </a:bodyPr>
          <a:lstStyle/>
          <a:p>
            <a:pPr algn="l"/>
            <a:r>
              <a:rPr sz="950" b="0" i="0">
                <a:solidFill>
                  <a:srgbClr val="64748B"/>
                </a:solidFill>
              </a:rPr>
              <a:t>Filter feature_type=region-expansion for the services you use. Know the moment a service you rely on reaches your target region before checking the console.</a:t>
            </a:r>
          </a:p>
        </p:txBody>
      </p:sp>
      <p:sp>
        <p:nvSpPr>
          <p:cNvPr id="41" name="Rectangle 40"/>
          <p:cNvSpPr/>
          <p:nvPr/>
        </p:nvSpPr>
        <p:spPr>
          <a:xfrm>
            <a:off x="7056913610808" y="1739147578848"/>
            <a:ext cx="3529583" cy="256032"/>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56913665672" y="1739147597136"/>
            <a:ext cx="3474719" cy="237744"/>
          </a:xfrm>
          <a:prstGeom prst="rect">
            <a:avLst/>
          </a:prstGeom>
          <a:noFill/>
        </p:spPr>
        <p:txBody>
          <a:bodyPr wrap="square">
            <a:spAutoFit/>
          </a:bodyPr>
          <a:lstStyle/>
          <a:p>
            <a:pPr algn="l"/>
            <a:r>
              <a:rPr sz="850" b="0" i="1">
                <a:solidFill>
                  <a:srgbClr val="EF4444"/>
                </a:solidFill>
              </a:rPr>
              <a:t>Filter: type=region-expansion · service=amazon-eks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AI INTELLIGENCE LAYER</a:t>
            </a:r>
          </a:p>
        </p:txBody>
      </p:sp>
      <p:sp>
        <p:nvSpPr>
          <p:cNvPr id="5" name="TextBox 4"/>
          <p:cNvSpPr txBox="1"/>
          <p:nvPr/>
        </p:nvSpPr>
        <p:spPr>
          <a:xfrm>
            <a:off x="502920" y="402336"/>
            <a:ext cx="9144000" cy="475488"/>
          </a:xfrm>
          <a:prstGeom prst="rect">
            <a:avLst/>
          </a:prstGeom>
          <a:noFill/>
        </p:spPr>
        <p:txBody>
          <a:bodyPr wrap="square">
            <a:spAutoFit/>
          </a:bodyPr>
          <a:lstStyle/>
          <a:p>
            <a:pPr algn="l"/>
            <a:r>
              <a:rPr sz="2500" b="1" i="0">
                <a:solidFill>
                  <a:srgbClr val="FFFFFF"/>
                </a:solidFill>
              </a:rPr>
              <a:t>How Claude Haiku Transforms Raw AWS Announcements</a:t>
            </a:r>
          </a:p>
        </p:txBody>
      </p:sp>
      <p:sp>
        <p:nvSpPr>
          <p:cNvPr id="6" name="Rectangle 5"/>
          <p:cNvSpPr/>
          <p:nvPr/>
        </p:nvSpPr>
        <p:spPr>
          <a:xfrm>
            <a:off x="411480" y="1005840"/>
            <a:ext cx="5120640" cy="5303520"/>
          </a:xfrm>
          <a:prstGeom prst="rect">
            <a:avLst/>
          </a:prstGeom>
          <a:solidFill>
            <a:srgbClr val="1A2A3A"/>
          </a:solidFill>
          <a:ln w="12700">
            <a:solidFill>
              <a:srgbClr val="2D3F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51560"/>
            <a:ext cx="4846320" cy="274320"/>
          </a:xfrm>
          <a:prstGeom prst="rect">
            <a:avLst/>
          </a:prstGeom>
          <a:noFill/>
        </p:spPr>
        <p:txBody>
          <a:bodyPr wrap="square">
            <a:spAutoFit/>
          </a:bodyPr>
          <a:lstStyle/>
          <a:p>
            <a:pPr algn="l"/>
            <a:r>
              <a:rPr sz="900" b="1" i="0">
                <a:solidFill>
                  <a:srgbClr val="94A3B8"/>
                </a:solidFill>
              </a:rPr>
              <a:t>RAW RSS INPUT</a:t>
            </a:r>
          </a:p>
        </p:txBody>
      </p:sp>
      <p:sp>
        <p:nvSpPr>
          <p:cNvPr id="8" name="TextBox 7"/>
          <p:cNvSpPr txBox="1"/>
          <p:nvPr/>
        </p:nvSpPr>
        <p:spPr>
          <a:xfrm>
            <a:off x="548640" y="1389888"/>
            <a:ext cx="4846320" cy="4480560"/>
          </a:xfrm>
          <a:prstGeom prst="rect">
            <a:avLst/>
          </a:prstGeom>
          <a:noFill/>
        </p:spPr>
        <p:txBody>
          <a:bodyPr wrap="square">
            <a:spAutoFit/>
          </a:bodyPr>
          <a:lstStyle/>
          <a:p>
            <a:pPr algn="l"/>
            <a:r>
              <a:rPr sz="850" b="0" i="0">
                <a:solidFill>
                  <a:srgbClr val="7DD3FC"/>
                </a:solidFill>
              </a:rPr>
              <a:t>&lt;title&gt;Amazon Bedrock Knowledge Bases now supports semantic reranking for improved retrieval-augmented generation (RAG) accuracy&lt;/title&gt;
&lt;description&gt;&lt;![CDATA[&lt;p&gt;Amazon Bedrock Knowledge Bases now supports semantic reranking, a technique that improves the accuracy of retrieved results for Retrieval Augmented Generation (RAG) applications...&lt;/p&gt;&lt;p&gt;With semantic reranking, you can now configure Knowledge Bases to use a cross-encoder model to rerank the initially retrieved documents or chunks based on their relevance to the query. This additional reranking step helps to improve the relevancy of retrieved results, which can reduce hallucinations and improve the quality of responses generated by foundation models...&lt;/p&gt;]]&gt;&lt;/description&gt;
&lt;category&gt;general:products/amazon-bedrock&lt;/category&gt;
&lt;category&gt;marketing:marchitecture/ai-ml&lt;/category&gt;</a:t>
            </a:r>
          </a:p>
        </p:txBody>
      </p:sp>
      <p:sp>
        <p:nvSpPr>
          <p:cNvPr id="9" name="TextBox 8"/>
          <p:cNvSpPr txBox="1"/>
          <p:nvPr/>
        </p:nvSpPr>
        <p:spPr>
          <a:xfrm>
            <a:off x="5669280" y="3291840"/>
            <a:ext cx="914400" cy="457200"/>
          </a:xfrm>
          <a:prstGeom prst="rect">
            <a:avLst/>
          </a:prstGeom>
          <a:noFill/>
        </p:spPr>
        <p:txBody>
          <a:bodyPr wrap="square">
            <a:spAutoFit/>
          </a:bodyPr>
          <a:lstStyle/>
          <a:p>
            <a:pPr algn="ctr"/>
            <a:r>
              <a:rPr sz="3600" b="1" i="0">
                <a:solidFill>
                  <a:srgbClr val="FF9900"/>
                </a:solidFill>
              </a:rPr>
              <a:t>→</a:t>
            </a:r>
          </a:p>
        </p:txBody>
      </p:sp>
      <p:sp>
        <p:nvSpPr>
          <p:cNvPr id="10" name="TextBox 9"/>
          <p:cNvSpPr txBox="1"/>
          <p:nvPr/>
        </p:nvSpPr>
        <p:spPr>
          <a:xfrm>
            <a:off x="5486400" y="3749039"/>
            <a:ext cx="1234440" cy="292608"/>
          </a:xfrm>
          <a:prstGeom prst="rect">
            <a:avLst/>
          </a:prstGeom>
          <a:noFill/>
        </p:spPr>
        <p:txBody>
          <a:bodyPr wrap="square">
            <a:spAutoFit/>
          </a:bodyPr>
          <a:lstStyle/>
          <a:p>
            <a:pPr algn="ctr"/>
            <a:r>
              <a:rPr sz="900" b="0" i="0">
                <a:solidFill>
                  <a:srgbClr val="FF9900"/>
                </a:solidFill>
              </a:rPr>
              <a:t>Claude
Haiku</a:t>
            </a:r>
          </a:p>
        </p:txBody>
      </p:sp>
      <p:sp>
        <p:nvSpPr>
          <p:cNvPr id="11" name="Rectangle 10"/>
          <p:cNvSpPr/>
          <p:nvPr/>
        </p:nvSpPr>
        <p:spPr>
          <a:xfrm>
            <a:off x="6675120" y="1005840"/>
            <a:ext cx="5120640" cy="5303520"/>
          </a:xfrm>
          <a:prstGeom prst="rect">
            <a:avLst/>
          </a:prstGeom>
          <a:solidFill>
            <a:srgbClr val="0D2A1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051560"/>
            <a:ext cx="4846320" cy="274320"/>
          </a:xfrm>
          <a:prstGeom prst="rect">
            <a:avLst/>
          </a:prstGeom>
          <a:noFill/>
        </p:spPr>
        <p:txBody>
          <a:bodyPr wrap="square">
            <a:spAutoFit/>
          </a:bodyPr>
          <a:lstStyle/>
          <a:p>
            <a:pPr algn="l"/>
            <a:r>
              <a:rPr sz="900" b="1" i="0">
                <a:solidFill>
                  <a:srgbClr val="94A3B8"/>
                </a:solidFill>
              </a:rPr>
              <a:t>AI-ENRICHED OUTPUT</a:t>
            </a:r>
          </a:p>
        </p:txBody>
      </p:sp>
      <p:sp>
        <p:nvSpPr>
          <p:cNvPr id="13" name="TextBox 12"/>
          <p:cNvSpPr txBox="1"/>
          <p:nvPr/>
        </p:nvSpPr>
        <p:spPr>
          <a:xfrm>
            <a:off x="6858000" y="1389888"/>
            <a:ext cx="4846320" cy="237744"/>
          </a:xfrm>
          <a:prstGeom prst="rect">
            <a:avLst/>
          </a:prstGeom>
          <a:noFill/>
        </p:spPr>
        <p:txBody>
          <a:bodyPr wrap="square">
            <a:spAutoFit/>
          </a:bodyPr>
          <a:lstStyle/>
          <a:p>
            <a:pPr algn="l"/>
            <a:r>
              <a:rPr sz="900" b="1" i="0">
                <a:solidFill>
                  <a:srgbClr val="94A3B8"/>
                </a:solidFill>
              </a:rPr>
              <a:t>feature_type:</a:t>
            </a:r>
          </a:p>
        </p:txBody>
      </p:sp>
      <p:sp>
        <p:nvSpPr>
          <p:cNvPr id="14" name="TextBox 13"/>
          <p:cNvSpPr txBox="1"/>
          <p:nvPr/>
        </p:nvSpPr>
        <p:spPr>
          <a:xfrm>
            <a:off x="6858000" y="1627632"/>
            <a:ext cx="4846320" cy="914400"/>
          </a:xfrm>
          <a:prstGeom prst="rect">
            <a:avLst/>
          </a:prstGeom>
          <a:noFill/>
        </p:spPr>
        <p:txBody>
          <a:bodyPr wrap="square">
            <a:spAutoFit/>
          </a:bodyPr>
          <a:lstStyle/>
          <a:p>
            <a:pPr algn="l"/>
            <a:r>
              <a:rPr sz="1000" b="0" i="0">
                <a:solidFill>
                  <a:srgbClr val="FF9900"/>
                </a:solidFill>
              </a:rPr>
              <a:t>new-feature</a:t>
            </a:r>
          </a:p>
        </p:txBody>
      </p:sp>
      <p:sp>
        <p:nvSpPr>
          <p:cNvPr id="15" name="TextBox 14"/>
          <p:cNvSpPr txBox="1"/>
          <p:nvPr/>
        </p:nvSpPr>
        <p:spPr>
          <a:xfrm>
            <a:off x="6858000" y="2450592"/>
            <a:ext cx="4846320" cy="237744"/>
          </a:xfrm>
          <a:prstGeom prst="rect">
            <a:avLst/>
          </a:prstGeom>
          <a:noFill/>
        </p:spPr>
        <p:txBody>
          <a:bodyPr wrap="square">
            <a:spAutoFit/>
          </a:bodyPr>
          <a:lstStyle/>
          <a:p>
            <a:pPr algn="l"/>
            <a:r>
              <a:rPr sz="900" b="1" i="0">
                <a:solidFill>
                  <a:srgbClr val="94A3B8"/>
                </a:solidFill>
              </a:rPr>
              <a:t>summary:</a:t>
            </a:r>
          </a:p>
        </p:txBody>
      </p:sp>
      <p:sp>
        <p:nvSpPr>
          <p:cNvPr id="16" name="TextBox 15"/>
          <p:cNvSpPr txBox="1"/>
          <p:nvPr/>
        </p:nvSpPr>
        <p:spPr>
          <a:xfrm>
            <a:off x="6858000" y="2688336"/>
            <a:ext cx="4846320" cy="914400"/>
          </a:xfrm>
          <a:prstGeom prst="rect">
            <a:avLst/>
          </a:prstGeom>
          <a:noFill/>
        </p:spPr>
        <p:txBody>
          <a:bodyPr wrap="square">
            <a:spAutoFit/>
          </a:bodyPr>
          <a:lstStyle/>
          <a:p>
            <a:pPr algn="l"/>
            <a:r>
              <a:rPr sz="1000" b="0" i="0">
                <a:solidFill>
                  <a:srgbClr val="BBF7D0"/>
                </a:solidFill>
              </a:rPr>
              <a:t>Amazon Bedrock Knowledge Bases introduces semantic reranking to improve retrieval accuracy in RAG workflows. A cross-encoder model rescores retrieved chunks by relevance, significantly reducing hallucinations. Enable with a single API parameter. Supports Amazon Rerank 1.0 and Cohere Rerank 3.5.</a:t>
            </a:r>
          </a:p>
        </p:txBody>
      </p:sp>
      <p:sp>
        <p:nvSpPr>
          <p:cNvPr id="17" name="TextBox 16"/>
          <p:cNvSpPr txBox="1"/>
          <p:nvPr/>
        </p:nvSpPr>
        <p:spPr>
          <a:xfrm>
            <a:off x="6858000" y="3511296"/>
            <a:ext cx="4846320" cy="237744"/>
          </a:xfrm>
          <a:prstGeom prst="rect">
            <a:avLst/>
          </a:prstGeom>
          <a:noFill/>
        </p:spPr>
        <p:txBody>
          <a:bodyPr wrap="square">
            <a:spAutoFit/>
          </a:bodyPr>
          <a:lstStyle/>
          <a:p>
            <a:pPr algn="l"/>
            <a:r>
              <a:rPr sz="900" b="1" i="0">
                <a:solidFill>
                  <a:srgbClr val="94A3B8"/>
                </a:solidFill>
              </a:rPr>
              <a:t>key_points:</a:t>
            </a:r>
          </a:p>
        </p:txBody>
      </p:sp>
      <p:sp>
        <p:nvSpPr>
          <p:cNvPr id="18" name="TextBox 17"/>
          <p:cNvSpPr txBox="1"/>
          <p:nvPr/>
        </p:nvSpPr>
        <p:spPr>
          <a:xfrm>
            <a:off x="6858000" y="3749040"/>
            <a:ext cx="4846320" cy="914400"/>
          </a:xfrm>
          <a:prstGeom prst="rect">
            <a:avLst/>
          </a:prstGeom>
          <a:noFill/>
        </p:spPr>
        <p:txBody>
          <a:bodyPr wrap="square">
            <a:spAutoFit/>
          </a:bodyPr>
          <a:lstStyle/>
          <a:p>
            <a:pPr algn="l"/>
            <a:r>
              <a:rPr sz="1000" b="0" i="0">
                <a:solidFill>
                  <a:srgbClr val="86EFAC"/>
                </a:solidFill>
              </a:rPr>
              <a:t>• Reduces hallucinations by rescoring chunks
• Supports Rerank 1.0 + Cohere Rerank 3.5
• Single RetrievalConfiguration API param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0058400" cy="512064"/>
          </a:xfrm>
          <a:prstGeom prst="rect">
            <a:avLst/>
          </a:prstGeom>
          <a:noFill/>
        </p:spPr>
        <p:txBody>
          <a:bodyPr wrap="square">
            <a:spAutoFit/>
          </a:bodyPr>
          <a:lstStyle/>
          <a:p>
            <a:pPr algn="l"/>
            <a:r>
              <a:rPr sz="2700" b="1" i="0">
                <a:solidFill>
                  <a:srgbClr val="FFFFFF"/>
                </a:solidFill>
              </a:rPr>
              <a:t>Cost-Efficient, Secure, and Production-Ready</a:t>
            </a:r>
          </a:p>
        </p:txBody>
      </p:sp>
      <p:sp>
        <p:nvSpPr>
          <p:cNvPr id="6" name="TextBox 5"/>
          <p:cNvSpPr txBox="1"/>
          <p:nvPr/>
        </p:nvSpPr>
        <p:spPr>
          <a:xfrm>
            <a:off x="502920" y="694944"/>
            <a:ext cx="10058400" cy="256032"/>
          </a:xfrm>
          <a:prstGeom prst="rect">
            <a:avLst/>
          </a:prstGeom>
          <a:noFill/>
        </p:spPr>
        <p:txBody>
          <a:bodyPr wrap="square">
            <a:spAutoFit/>
          </a:bodyPr>
          <a:lstStyle/>
          <a:p>
            <a:pPr algn="l"/>
            <a:r>
              <a:rPr sz="1300" b="0" i="1">
                <a:solidFill>
                  <a:srgbClr val="FF9900"/>
                </a:solidFill>
              </a:rPr>
              <a:t>Minimal cost, FedRAMP-aligned services, least-privilege IAM, and full observability.</a:t>
            </a:r>
          </a:p>
        </p:txBody>
      </p:sp>
      <p:sp>
        <p:nvSpPr>
          <p:cNvPr id="7" name="Rectangle 6"/>
          <p:cNvSpPr/>
          <p:nvPr/>
        </p:nvSpPr>
        <p:spPr>
          <a:xfrm>
            <a:off x="411480" y="1097280"/>
            <a:ext cx="53035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5029200" cy="274320"/>
          </a:xfrm>
          <a:prstGeom prst="rect">
            <a:avLst/>
          </a:prstGeom>
          <a:noFill/>
        </p:spPr>
        <p:txBody>
          <a:bodyPr wrap="square">
            <a:spAutoFit/>
          </a:bodyPr>
          <a:lstStyle/>
          <a:p>
            <a:pPr algn="l"/>
            <a:r>
              <a:rPr sz="1200" b="1" i="0">
                <a:solidFill>
                  <a:srgbClr val="1E293B"/>
                </a:solidFill>
              </a:rPr>
              <a:t>Monthly Cost Estimate (~500 features/month)</a:t>
            </a:r>
          </a:p>
        </p:txBody>
      </p:sp>
      <p:sp>
        <p:nvSpPr>
          <p:cNvPr id="9" name="Rectangle 8"/>
          <p:cNvSpPr/>
          <p:nvPr/>
        </p:nvSpPr>
        <p:spPr>
          <a:xfrm>
            <a:off x="411480" y="1572768"/>
            <a:ext cx="5303520" cy="402336"/>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64208"/>
            <a:ext cx="3474720" cy="256032"/>
          </a:xfrm>
          <a:prstGeom prst="rect">
            <a:avLst/>
          </a:prstGeom>
          <a:noFill/>
        </p:spPr>
        <p:txBody>
          <a:bodyPr wrap="square">
            <a:spAutoFit/>
          </a:bodyPr>
          <a:lstStyle/>
          <a:p>
            <a:pPr algn="l"/>
            <a:r>
              <a:rPr sz="1000" b="1" i="0">
                <a:solidFill>
                  <a:srgbClr val="1E293B"/>
                </a:solidFill>
              </a:rPr>
              <a:t>Service</a:t>
            </a:r>
          </a:p>
        </p:txBody>
      </p:sp>
      <p:sp>
        <p:nvSpPr>
          <p:cNvPr id="11" name="TextBox 10"/>
          <p:cNvSpPr txBox="1"/>
          <p:nvPr/>
        </p:nvSpPr>
        <p:spPr>
          <a:xfrm>
            <a:off x="4114800" y="1664208"/>
            <a:ext cx="1371600" cy="256032"/>
          </a:xfrm>
          <a:prstGeom prst="rect">
            <a:avLst/>
          </a:prstGeom>
          <a:noFill/>
        </p:spPr>
        <p:txBody>
          <a:bodyPr wrap="square">
            <a:spAutoFit/>
          </a:bodyPr>
          <a:lstStyle/>
          <a:p>
            <a:pPr algn="r"/>
            <a:r>
              <a:rPr sz="1000" b="1" i="0">
                <a:solidFill>
                  <a:srgbClr val="FF9900"/>
                </a:solidFill>
              </a:rPr>
              <a:t>Monthly Cost</a:t>
            </a:r>
          </a:p>
        </p:txBody>
      </p:sp>
      <p:sp>
        <p:nvSpPr>
          <p:cNvPr id="12" name="TextBox 11"/>
          <p:cNvSpPr txBox="1"/>
          <p:nvPr/>
        </p:nvSpPr>
        <p:spPr>
          <a:xfrm>
            <a:off x="548640" y="2066544"/>
            <a:ext cx="3474720" cy="256032"/>
          </a:xfrm>
          <a:prstGeom prst="rect">
            <a:avLst/>
          </a:prstGeom>
          <a:noFill/>
        </p:spPr>
        <p:txBody>
          <a:bodyPr wrap="square">
            <a:spAutoFit/>
          </a:bodyPr>
          <a:lstStyle/>
          <a:p>
            <a:pPr algn="l"/>
            <a:r>
              <a:rPr sz="1000" b="0" i="0">
                <a:solidFill>
                  <a:srgbClr val="1E293B"/>
                </a:solidFill>
              </a:rPr>
              <a:t>Lambda (3 functions, arm64)</a:t>
            </a:r>
          </a:p>
        </p:txBody>
      </p:sp>
      <p:sp>
        <p:nvSpPr>
          <p:cNvPr id="13" name="TextBox 12"/>
          <p:cNvSpPr txBox="1"/>
          <p:nvPr/>
        </p:nvSpPr>
        <p:spPr>
          <a:xfrm>
            <a:off x="4114800" y="2066544"/>
            <a:ext cx="1371600" cy="256032"/>
          </a:xfrm>
          <a:prstGeom prst="rect">
            <a:avLst/>
          </a:prstGeom>
          <a:noFill/>
        </p:spPr>
        <p:txBody>
          <a:bodyPr wrap="square">
            <a:spAutoFit/>
          </a:bodyPr>
          <a:lstStyle/>
          <a:p>
            <a:pPr algn="r"/>
            <a:r>
              <a:rPr sz="1000" b="0" i="0">
                <a:solidFill>
                  <a:srgbClr val="16A34A"/>
                </a:solidFill>
              </a:rPr>
              <a:t>~$0.01</a:t>
            </a:r>
          </a:p>
        </p:txBody>
      </p:sp>
      <p:sp>
        <p:nvSpPr>
          <p:cNvPr id="14" name="Rectangle 13"/>
          <p:cNvSpPr/>
          <p:nvPr/>
        </p:nvSpPr>
        <p:spPr>
          <a:xfrm>
            <a:off x="411480" y="2377440"/>
            <a:ext cx="5303520" cy="402336"/>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468880"/>
            <a:ext cx="3474720" cy="256032"/>
          </a:xfrm>
          <a:prstGeom prst="rect">
            <a:avLst/>
          </a:prstGeom>
          <a:noFill/>
        </p:spPr>
        <p:txBody>
          <a:bodyPr wrap="square">
            <a:spAutoFit/>
          </a:bodyPr>
          <a:lstStyle/>
          <a:p>
            <a:pPr algn="l"/>
            <a:r>
              <a:rPr sz="1000" b="0" i="0">
                <a:solidFill>
                  <a:srgbClr val="1E293B"/>
                </a:solidFill>
              </a:rPr>
              <a:t>DynamoDB on-demand</a:t>
            </a:r>
          </a:p>
        </p:txBody>
      </p:sp>
      <p:sp>
        <p:nvSpPr>
          <p:cNvPr id="16" name="TextBox 15"/>
          <p:cNvSpPr txBox="1"/>
          <p:nvPr/>
        </p:nvSpPr>
        <p:spPr>
          <a:xfrm>
            <a:off x="4114800" y="2468880"/>
            <a:ext cx="1371600" cy="256032"/>
          </a:xfrm>
          <a:prstGeom prst="rect">
            <a:avLst/>
          </a:prstGeom>
          <a:noFill/>
        </p:spPr>
        <p:txBody>
          <a:bodyPr wrap="square">
            <a:spAutoFit/>
          </a:bodyPr>
          <a:lstStyle/>
          <a:p>
            <a:pPr algn="r"/>
            <a:r>
              <a:rPr sz="1000" b="0" i="0">
                <a:solidFill>
                  <a:srgbClr val="16A34A"/>
                </a:solidFill>
              </a:rPr>
              <a:t>~$0.02</a:t>
            </a:r>
          </a:p>
        </p:txBody>
      </p:sp>
      <p:sp>
        <p:nvSpPr>
          <p:cNvPr id="17" name="TextBox 16"/>
          <p:cNvSpPr txBox="1"/>
          <p:nvPr/>
        </p:nvSpPr>
        <p:spPr>
          <a:xfrm>
            <a:off x="548640" y="2871216"/>
            <a:ext cx="3474720" cy="256032"/>
          </a:xfrm>
          <a:prstGeom prst="rect">
            <a:avLst/>
          </a:prstGeom>
          <a:noFill/>
        </p:spPr>
        <p:txBody>
          <a:bodyPr wrap="square">
            <a:spAutoFit/>
          </a:bodyPr>
          <a:lstStyle/>
          <a:p>
            <a:pPr algn="l"/>
            <a:r>
              <a:rPr sz="1000" b="0" i="0">
                <a:solidFill>
                  <a:srgbClr val="1E293B"/>
                </a:solidFill>
              </a:rPr>
              <a:t>S3 (summaries + SPA assets)</a:t>
            </a:r>
          </a:p>
        </p:txBody>
      </p:sp>
      <p:sp>
        <p:nvSpPr>
          <p:cNvPr id="18" name="TextBox 17"/>
          <p:cNvSpPr txBox="1"/>
          <p:nvPr/>
        </p:nvSpPr>
        <p:spPr>
          <a:xfrm>
            <a:off x="4114800" y="2871216"/>
            <a:ext cx="1371600" cy="256032"/>
          </a:xfrm>
          <a:prstGeom prst="rect">
            <a:avLst/>
          </a:prstGeom>
          <a:noFill/>
        </p:spPr>
        <p:txBody>
          <a:bodyPr wrap="square">
            <a:spAutoFit/>
          </a:bodyPr>
          <a:lstStyle/>
          <a:p>
            <a:pPr algn="r"/>
            <a:r>
              <a:rPr sz="1000" b="0" i="0">
                <a:solidFill>
                  <a:srgbClr val="16A34A"/>
                </a:solidFill>
              </a:rPr>
              <a:t>~$0.03</a:t>
            </a:r>
          </a:p>
        </p:txBody>
      </p:sp>
      <p:sp>
        <p:nvSpPr>
          <p:cNvPr id="19" name="Rectangle 18"/>
          <p:cNvSpPr/>
          <p:nvPr/>
        </p:nvSpPr>
        <p:spPr>
          <a:xfrm>
            <a:off x="411480" y="3182112"/>
            <a:ext cx="5303520" cy="402336"/>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273552"/>
            <a:ext cx="3474720" cy="256032"/>
          </a:xfrm>
          <a:prstGeom prst="rect">
            <a:avLst/>
          </a:prstGeom>
          <a:noFill/>
        </p:spPr>
        <p:txBody>
          <a:bodyPr wrap="square">
            <a:spAutoFit/>
          </a:bodyPr>
          <a:lstStyle/>
          <a:p>
            <a:pPr algn="l"/>
            <a:r>
              <a:rPr sz="1000" b="0" i="0">
                <a:solidFill>
                  <a:srgbClr val="1E293B"/>
                </a:solidFill>
              </a:rPr>
              <a:t>CloudFront (PriceClass_100)</a:t>
            </a:r>
          </a:p>
        </p:txBody>
      </p:sp>
      <p:sp>
        <p:nvSpPr>
          <p:cNvPr id="21" name="TextBox 20"/>
          <p:cNvSpPr txBox="1"/>
          <p:nvPr/>
        </p:nvSpPr>
        <p:spPr>
          <a:xfrm>
            <a:off x="4114800" y="3273552"/>
            <a:ext cx="1371600" cy="256032"/>
          </a:xfrm>
          <a:prstGeom prst="rect">
            <a:avLst/>
          </a:prstGeom>
          <a:noFill/>
        </p:spPr>
        <p:txBody>
          <a:bodyPr wrap="square">
            <a:spAutoFit/>
          </a:bodyPr>
          <a:lstStyle/>
          <a:p>
            <a:pPr algn="r"/>
            <a:r>
              <a:rPr sz="1000" b="0" i="0">
                <a:solidFill>
                  <a:srgbClr val="16A34A"/>
                </a:solidFill>
              </a:rPr>
              <a:t>~$0.10</a:t>
            </a:r>
          </a:p>
        </p:txBody>
      </p:sp>
      <p:sp>
        <p:nvSpPr>
          <p:cNvPr id="22" name="TextBox 21"/>
          <p:cNvSpPr txBox="1"/>
          <p:nvPr/>
        </p:nvSpPr>
        <p:spPr>
          <a:xfrm>
            <a:off x="548640" y="3675888"/>
            <a:ext cx="3474720" cy="256032"/>
          </a:xfrm>
          <a:prstGeom prst="rect">
            <a:avLst/>
          </a:prstGeom>
          <a:noFill/>
        </p:spPr>
        <p:txBody>
          <a:bodyPr wrap="square">
            <a:spAutoFit/>
          </a:bodyPr>
          <a:lstStyle/>
          <a:p>
            <a:pPr algn="l"/>
            <a:r>
              <a:rPr sz="1000" b="0" i="0">
                <a:solidFill>
                  <a:srgbClr val="1E293B"/>
                </a:solidFill>
              </a:rPr>
              <a:t>Bedrock Claude Haiku (500 summaries)</a:t>
            </a:r>
          </a:p>
        </p:txBody>
      </p:sp>
      <p:sp>
        <p:nvSpPr>
          <p:cNvPr id="23" name="TextBox 22"/>
          <p:cNvSpPr txBox="1"/>
          <p:nvPr/>
        </p:nvSpPr>
        <p:spPr>
          <a:xfrm>
            <a:off x="4114800" y="3675888"/>
            <a:ext cx="1371600" cy="256032"/>
          </a:xfrm>
          <a:prstGeom prst="rect">
            <a:avLst/>
          </a:prstGeom>
          <a:noFill/>
        </p:spPr>
        <p:txBody>
          <a:bodyPr wrap="square">
            <a:spAutoFit/>
          </a:bodyPr>
          <a:lstStyle/>
          <a:p>
            <a:pPr algn="r"/>
            <a:r>
              <a:rPr sz="1000" b="0" i="0">
                <a:solidFill>
                  <a:srgbClr val="16A34A"/>
                </a:solidFill>
              </a:rPr>
              <a:t>~$0.15</a:t>
            </a:r>
          </a:p>
        </p:txBody>
      </p:sp>
      <p:sp>
        <p:nvSpPr>
          <p:cNvPr id="24" name="Rectangle 23"/>
          <p:cNvSpPr/>
          <p:nvPr/>
        </p:nvSpPr>
        <p:spPr>
          <a:xfrm>
            <a:off x="411480" y="3986784"/>
            <a:ext cx="5303520" cy="402336"/>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078224"/>
            <a:ext cx="3474720" cy="256032"/>
          </a:xfrm>
          <a:prstGeom prst="rect">
            <a:avLst/>
          </a:prstGeom>
          <a:noFill/>
        </p:spPr>
        <p:txBody>
          <a:bodyPr wrap="square">
            <a:spAutoFit/>
          </a:bodyPr>
          <a:lstStyle/>
          <a:p>
            <a:pPr algn="l"/>
            <a:r>
              <a:rPr sz="1000" b="0" i="0">
                <a:solidFill>
                  <a:srgbClr val="1E293B"/>
                </a:solidFill>
              </a:rPr>
              <a:t>SQS + EventBridge Scheduler</a:t>
            </a:r>
          </a:p>
        </p:txBody>
      </p:sp>
      <p:sp>
        <p:nvSpPr>
          <p:cNvPr id="26" name="TextBox 25"/>
          <p:cNvSpPr txBox="1"/>
          <p:nvPr/>
        </p:nvSpPr>
        <p:spPr>
          <a:xfrm>
            <a:off x="4114800" y="4078224"/>
            <a:ext cx="1371600" cy="256032"/>
          </a:xfrm>
          <a:prstGeom prst="rect">
            <a:avLst/>
          </a:prstGeom>
          <a:noFill/>
        </p:spPr>
        <p:txBody>
          <a:bodyPr wrap="square">
            <a:spAutoFit/>
          </a:bodyPr>
          <a:lstStyle/>
          <a:p>
            <a:pPr algn="r"/>
            <a:r>
              <a:rPr sz="1000" b="0" i="0">
                <a:solidFill>
                  <a:srgbClr val="16A34A"/>
                </a:solidFill>
              </a:rPr>
              <a:t>$0.00 (free tier)</a:t>
            </a:r>
          </a:p>
        </p:txBody>
      </p:sp>
      <p:sp>
        <p:nvSpPr>
          <p:cNvPr id="27" name="Rectangle 26"/>
          <p:cNvSpPr/>
          <p:nvPr/>
        </p:nvSpPr>
        <p:spPr>
          <a:xfrm>
            <a:off x="411480" y="4389120"/>
            <a:ext cx="5303520" cy="402336"/>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480560"/>
            <a:ext cx="3474720" cy="256032"/>
          </a:xfrm>
          <a:prstGeom prst="rect">
            <a:avLst/>
          </a:prstGeom>
          <a:noFill/>
        </p:spPr>
        <p:txBody>
          <a:bodyPr wrap="square">
            <a:spAutoFit/>
          </a:bodyPr>
          <a:lstStyle/>
          <a:p>
            <a:pPr algn="l"/>
            <a:r>
              <a:rPr sz="1000" b="1" i="0">
                <a:solidFill>
                  <a:srgbClr val="1E293B"/>
                </a:solidFill>
              </a:rPr>
              <a:t>Total</a:t>
            </a:r>
          </a:p>
        </p:txBody>
      </p:sp>
      <p:sp>
        <p:nvSpPr>
          <p:cNvPr id="29" name="TextBox 28"/>
          <p:cNvSpPr txBox="1"/>
          <p:nvPr/>
        </p:nvSpPr>
        <p:spPr>
          <a:xfrm>
            <a:off x="4114800" y="4480560"/>
            <a:ext cx="1371600" cy="256032"/>
          </a:xfrm>
          <a:prstGeom prst="rect">
            <a:avLst/>
          </a:prstGeom>
          <a:noFill/>
        </p:spPr>
        <p:txBody>
          <a:bodyPr wrap="square">
            <a:spAutoFit/>
          </a:bodyPr>
          <a:lstStyle/>
          <a:p>
            <a:pPr algn="r"/>
            <a:r>
              <a:rPr sz="1000" b="1" i="0">
                <a:solidFill>
                  <a:srgbClr val="FF9900"/>
                </a:solidFill>
              </a:rPr>
              <a:t>~$0.31/month</a:t>
            </a:r>
          </a:p>
        </p:txBody>
      </p:sp>
      <p:sp>
        <p:nvSpPr>
          <p:cNvPr id="30" name="Rectangle 29"/>
          <p:cNvSpPr/>
          <p:nvPr/>
        </p:nvSpPr>
        <p:spPr>
          <a:xfrm>
            <a:off x="6035040" y="1097280"/>
            <a:ext cx="57150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1188720"/>
            <a:ext cx="5486400" cy="274320"/>
          </a:xfrm>
          <a:prstGeom prst="rect">
            <a:avLst/>
          </a:prstGeom>
          <a:noFill/>
        </p:spPr>
        <p:txBody>
          <a:bodyPr wrap="square">
            <a:spAutoFit/>
          </a:bodyPr>
          <a:lstStyle/>
          <a:p>
            <a:pPr algn="l"/>
            <a:r>
              <a:rPr sz="1300" b="1" i="0">
                <a:solidFill>
                  <a:srgbClr val="1E293B"/>
                </a:solidFill>
              </a:rPr>
              <a:t>Security &amp; Compliance</a:t>
            </a:r>
          </a:p>
        </p:txBody>
      </p:sp>
      <p:sp>
        <p:nvSpPr>
          <p:cNvPr id="32" name="Rectangle 31"/>
          <p:cNvSpPr/>
          <p:nvPr/>
        </p:nvSpPr>
        <p:spPr>
          <a:xfrm>
            <a:off x="6172200" y="1572387"/>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73368" y="1536192"/>
            <a:ext cx="5193792" cy="256032"/>
          </a:xfrm>
          <a:prstGeom prst="rect">
            <a:avLst/>
          </a:prstGeom>
          <a:noFill/>
        </p:spPr>
        <p:txBody>
          <a:bodyPr wrap="square">
            <a:spAutoFit/>
          </a:bodyPr>
          <a:lstStyle/>
          <a:p>
            <a:r>
              <a:rPr sz="950">
                <a:solidFill>
                  <a:srgbClr val="1E293B"/>
                </a:solidFill>
              </a:rPr>
              <a:t>All services FedRAMP Moderate authorized (us-east-1 commercial)</a:t>
            </a:r>
          </a:p>
        </p:txBody>
      </p:sp>
      <p:sp>
        <p:nvSpPr>
          <p:cNvPr id="34" name="Rectangle 33"/>
          <p:cNvSpPr/>
          <p:nvPr/>
        </p:nvSpPr>
        <p:spPr>
          <a:xfrm>
            <a:off x="6172200" y="1846707"/>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1810512"/>
            <a:ext cx="5193792" cy="256032"/>
          </a:xfrm>
          <a:prstGeom prst="rect">
            <a:avLst/>
          </a:prstGeom>
          <a:noFill/>
        </p:spPr>
        <p:txBody>
          <a:bodyPr wrap="square">
            <a:spAutoFit/>
          </a:bodyPr>
          <a:lstStyle/>
          <a:p>
            <a:r>
              <a:rPr sz="950">
                <a:solidFill>
                  <a:srgbClr val="1E293B"/>
                </a:solidFill>
              </a:rPr>
              <a:t>IAM least-privilege: each Lambda has only the permissions it needs</a:t>
            </a:r>
          </a:p>
        </p:txBody>
      </p:sp>
      <p:sp>
        <p:nvSpPr>
          <p:cNvPr id="36" name="Rectangle 35"/>
          <p:cNvSpPr/>
          <p:nvPr/>
        </p:nvSpPr>
        <p:spPr>
          <a:xfrm>
            <a:off x="6172200" y="2121026"/>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73368" y="2084831"/>
            <a:ext cx="5193792" cy="256032"/>
          </a:xfrm>
          <a:prstGeom prst="rect">
            <a:avLst/>
          </a:prstGeom>
          <a:noFill/>
        </p:spPr>
        <p:txBody>
          <a:bodyPr wrap="square">
            <a:spAutoFit/>
          </a:bodyPr>
          <a:lstStyle/>
          <a:p>
            <a:r>
              <a:rPr sz="950">
                <a:solidFill>
                  <a:srgbClr val="1E293B"/>
                </a:solidFill>
              </a:rPr>
              <a:t>S3 Block Public Access ON — CloudFront OAC for SPA, no direct access</a:t>
            </a:r>
          </a:p>
        </p:txBody>
      </p:sp>
      <p:sp>
        <p:nvSpPr>
          <p:cNvPr id="38" name="Rectangle 37"/>
          <p:cNvSpPr/>
          <p:nvPr/>
        </p:nvSpPr>
        <p:spPr>
          <a:xfrm>
            <a:off x="6172200" y="2395347"/>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73368" y="2359152"/>
            <a:ext cx="5193792" cy="256032"/>
          </a:xfrm>
          <a:prstGeom prst="rect">
            <a:avLst/>
          </a:prstGeom>
          <a:noFill/>
        </p:spPr>
        <p:txBody>
          <a:bodyPr wrap="square">
            <a:spAutoFit/>
          </a:bodyPr>
          <a:lstStyle/>
          <a:p>
            <a:r>
              <a:rPr sz="950">
                <a:solidFill>
                  <a:srgbClr val="1E293B"/>
                </a:solidFill>
              </a:rPr>
              <a:t>No VPC required — all traffic via AWS service endpoints</a:t>
            </a:r>
          </a:p>
        </p:txBody>
      </p:sp>
      <p:sp>
        <p:nvSpPr>
          <p:cNvPr id="40" name="Rectangle 39"/>
          <p:cNvSpPr/>
          <p:nvPr/>
        </p:nvSpPr>
        <p:spPr>
          <a:xfrm>
            <a:off x="6172200" y="2669667"/>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3368" y="2633472"/>
            <a:ext cx="5193792" cy="256032"/>
          </a:xfrm>
          <a:prstGeom prst="rect">
            <a:avLst/>
          </a:prstGeom>
          <a:noFill/>
        </p:spPr>
        <p:txBody>
          <a:bodyPr wrap="square">
            <a:spAutoFit/>
          </a:bodyPr>
          <a:lstStyle/>
          <a:p>
            <a:r>
              <a:rPr sz="950">
                <a:solidFill>
                  <a:srgbClr val="1E293B"/>
                </a:solidFill>
              </a:rPr>
              <a:t>API Gateway public read-only (no write surface exposed)</a:t>
            </a:r>
          </a:p>
        </p:txBody>
      </p:sp>
      <p:sp>
        <p:nvSpPr>
          <p:cNvPr id="42" name="Rectangle 41"/>
          <p:cNvSpPr/>
          <p:nvPr/>
        </p:nvSpPr>
        <p:spPr>
          <a:xfrm>
            <a:off x="6035040" y="3246120"/>
            <a:ext cx="5715000" cy="2240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3337560"/>
            <a:ext cx="5486400" cy="274320"/>
          </a:xfrm>
          <a:prstGeom prst="rect">
            <a:avLst/>
          </a:prstGeom>
          <a:noFill/>
        </p:spPr>
        <p:txBody>
          <a:bodyPr wrap="square">
            <a:spAutoFit/>
          </a:bodyPr>
          <a:lstStyle/>
          <a:p>
            <a:pPr algn="l"/>
            <a:r>
              <a:rPr sz="1300" b="1" i="0">
                <a:solidFill>
                  <a:srgbClr val="1E293B"/>
                </a:solidFill>
              </a:rPr>
              <a:t>Reliability &amp; Observability</a:t>
            </a:r>
          </a:p>
        </p:txBody>
      </p:sp>
      <p:sp>
        <p:nvSpPr>
          <p:cNvPr id="44" name="Rectangle 43"/>
          <p:cNvSpPr/>
          <p:nvPr/>
        </p:nvSpPr>
        <p:spPr>
          <a:xfrm>
            <a:off x="6172200" y="374865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3712463"/>
            <a:ext cx="5193792" cy="256032"/>
          </a:xfrm>
          <a:prstGeom prst="rect">
            <a:avLst/>
          </a:prstGeom>
          <a:noFill/>
        </p:spPr>
        <p:txBody>
          <a:bodyPr wrap="square">
            <a:spAutoFit/>
          </a:bodyPr>
          <a:lstStyle/>
          <a:p>
            <a:r>
              <a:rPr sz="950">
                <a:solidFill>
                  <a:srgbClr val="1E293B"/>
                </a:solidFill>
              </a:rPr>
              <a:t>SQS DLQ with 7-day retention — no announcement ever lost</a:t>
            </a:r>
          </a:p>
        </p:txBody>
      </p:sp>
      <p:sp>
        <p:nvSpPr>
          <p:cNvPr id="46" name="Rectangle 45"/>
          <p:cNvSpPr/>
          <p:nvPr/>
        </p:nvSpPr>
        <p:spPr>
          <a:xfrm>
            <a:off x="6172200" y="402297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3368" y="3986783"/>
            <a:ext cx="5193792" cy="256032"/>
          </a:xfrm>
          <a:prstGeom prst="rect">
            <a:avLst/>
          </a:prstGeom>
          <a:noFill/>
        </p:spPr>
        <p:txBody>
          <a:bodyPr wrap="square">
            <a:spAutoFit/>
          </a:bodyPr>
          <a:lstStyle/>
          <a:p>
            <a:r>
              <a:rPr sz="950">
                <a:solidFill>
                  <a:srgbClr val="1E293B"/>
                </a:solidFill>
              </a:rPr>
              <a:t>Up to 3 automatic retries on Bedrock failures before DLQ</a:t>
            </a:r>
          </a:p>
        </p:txBody>
      </p:sp>
      <p:sp>
        <p:nvSpPr>
          <p:cNvPr id="48" name="Rectangle 47"/>
          <p:cNvSpPr/>
          <p:nvPr/>
        </p:nvSpPr>
        <p:spPr>
          <a:xfrm>
            <a:off x="6172200" y="429729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73368" y="4261103"/>
            <a:ext cx="5193792" cy="256032"/>
          </a:xfrm>
          <a:prstGeom prst="rect">
            <a:avLst/>
          </a:prstGeom>
          <a:noFill/>
        </p:spPr>
        <p:txBody>
          <a:bodyPr wrap="square">
            <a:spAutoFit/>
          </a:bodyPr>
          <a:lstStyle/>
          <a:p>
            <a:r>
              <a:rPr sz="950">
                <a:solidFill>
                  <a:srgbClr val="1E293B"/>
                </a:solidFill>
              </a:rPr>
              <a:t>CloudWatch Alarm: Summarizer errors &gt; 10/hr → alert</a:t>
            </a:r>
          </a:p>
        </p:txBody>
      </p:sp>
      <p:sp>
        <p:nvSpPr>
          <p:cNvPr id="50" name="Rectangle 49"/>
          <p:cNvSpPr/>
          <p:nvPr/>
        </p:nvSpPr>
        <p:spPr>
          <a:xfrm>
            <a:off x="6172200" y="457161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4535423"/>
            <a:ext cx="5193792" cy="256032"/>
          </a:xfrm>
          <a:prstGeom prst="rect">
            <a:avLst/>
          </a:prstGeom>
          <a:noFill/>
        </p:spPr>
        <p:txBody>
          <a:bodyPr wrap="square">
            <a:spAutoFit/>
          </a:bodyPr>
          <a:lstStyle/>
          <a:p>
            <a:r>
              <a:rPr sz="950">
                <a:solidFill>
                  <a:srgbClr val="1E293B"/>
                </a:solidFill>
              </a:rPr>
              <a:t>CloudWatch Alarm: DLQ messages &gt; 0 → alert</a:t>
            </a:r>
          </a:p>
        </p:txBody>
      </p:sp>
      <p:sp>
        <p:nvSpPr>
          <p:cNvPr id="52" name="Rectangle 51"/>
          <p:cNvSpPr/>
          <p:nvPr/>
        </p:nvSpPr>
        <p:spPr>
          <a:xfrm>
            <a:off x="6172200" y="4845939"/>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73368" y="4809744"/>
            <a:ext cx="5193792" cy="256032"/>
          </a:xfrm>
          <a:prstGeom prst="rect">
            <a:avLst/>
          </a:prstGeom>
          <a:noFill/>
        </p:spPr>
        <p:txBody>
          <a:bodyPr wrap="square">
            <a:spAutoFit/>
          </a:bodyPr>
          <a:lstStyle/>
          <a:p>
            <a:r>
              <a:rPr sz="950">
                <a:solidFill>
                  <a:srgbClr val="1E293B"/>
                </a:solidFill>
              </a:rPr>
              <a:t>CloudFront + Lambda arm64 = low-latency, globally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3657600" cy="274320"/>
          </a:xfrm>
          <a:prstGeom prst="rect">
            <a:avLst/>
          </a:prstGeom>
          <a:noFill/>
        </p:spPr>
        <p:txBody>
          <a:bodyPr wrap="square">
            <a:spAutoFit/>
          </a:bodyPr>
          <a:lstStyle/>
          <a:p>
            <a:pPr algn="l"/>
            <a:r>
              <a:rPr sz="900" b="1" i="0">
                <a:solidFill>
                  <a:srgbClr val="FF9900"/>
                </a:solidFill>
              </a:rPr>
              <a:t>WHAT'S NEXT</a:t>
            </a:r>
          </a:p>
        </p:txBody>
      </p:sp>
      <p:sp>
        <p:nvSpPr>
          <p:cNvPr id="5" name="TextBox 4"/>
          <p:cNvSpPr txBox="1"/>
          <p:nvPr/>
        </p:nvSpPr>
        <p:spPr>
          <a:xfrm>
            <a:off x="502920" y="402336"/>
            <a:ext cx="9144000" cy="475488"/>
          </a:xfrm>
          <a:prstGeom prst="rect">
            <a:avLst/>
          </a:prstGeom>
          <a:noFill/>
        </p:spPr>
        <p:txBody>
          <a:bodyPr wrap="square">
            <a:spAutoFit/>
          </a:bodyPr>
          <a:lstStyle/>
          <a:p>
            <a:pPr algn="l"/>
            <a:r>
              <a:rPr sz="2500" b="1" i="0">
                <a:solidFill>
                  <a:srgbClr val="FFFFFF"/>
                </a:solidFill>
              </a:rPr>
              <a:t>Roadmap — Where We Can Take This</a:t>
            </a:r>
          </a:p>
        </p:txBody>
      </p:sp>
      <p:sp>
        <p:nvSpPr>
          <p:cNvPr id="6" name="Rectangle 5"/>
          <p:cNvSpPr/>
          <p:nvPr/>
        </p:nvSpPr>
        <p:spPr>
          <a:xfrm>
            <a:off x="411480" y="1005840"/>
            <a:ext cx="3703320" cy="5029200"/>
          </a:xfrm>
          <a:prstGeom prst="rect">
            <a:avLst/>
          </a:prstGeom>
          <a:solidFill>
            <a:srgbClr val="1A2635"/>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005840"/>
            <a:ext cx="3703320" cy="402336"/>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060704"/>
            <a:ext cx="3703320" cy="310896"/>
          </a:xfrm>
          <a:prstGeom prst="rect">
            <a:avLst/>
          </a:prstGeom>
          <a:noFill/>
        </p:spPr>
        <p:txBody>
          <a:bodyPr wrap="square">
            <a:spAutoFit/>
          </a:bodyPr>
          <a:lstStyle/>
          <a:p>
            <a:pPr algn="ctr"/>
            <a:r>
              <a:rPr sz="1600" b="1" i="0">
                <a:solidFill>
                  <a:srgbClr val="232F3E"/>
                </a:solidFill>
              </a:rPr>
              <a:t>Q2 2026</a:t>
            </a:r>
          </a:p>
        </p:txBody>
      </p:sp>
      <p:sp>
        <p:nvSpPr>
          <p:cNvPr id="9" name="Rectangle 8"/>
          <p:cNvSpPr/>
          <p:nvPr/>
        </p:nvSpPr>
        <p:spPr>
          <a:xfrm>
            <a:off x="612648" y="1554480"/>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04088" y="1687830"/>
            <a:ext cx="109728"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1645920"/>
            <a:ext cx="2926080" cy="1097280"/>
          </a:xfrm>
          <a:prstGeom prst="rect">
            <a:avLst/>
          </a:prstGeom>
          <a:noFill/>
        </p:spPr>
        <p:txBody>
          <a:bodyPr wrap="square">
            <a:spAutoFit/>
          </a:bodyPr>
          <a:lstStyle/>
          <a:p>
            <a:r>
              <a:rPr sz="1100">
                <a:solidFill>
                  <a:srgbClr val="CBD5E1"/>
                </a:solidFill>
              </a:rPr>
              <a:t>SNS / Slack notifications — ping #aws-updates when new features match watchlist</a:t>
            </a:r>
          </a:p>
        </p:txBody>
      </p:sp>
      <p:sp>
        <p:nvSpPr>
          <p:cNvPr id="12" name="Rectangle 11"/>
          <p:cNvSpPr/>
          <p:nvPr/>
        </p:nvSpPr>
        <p:spPr>
          <a:xfrm>
            <a:off x="612648" y="2944368"/>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4088" y="3077718"/>
            <a:ext cx="109728"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3035808"/>
            <a:ext cx="2926080" cy="1097280"/>
          </a:xfrm>
          <a:prstGeom prst="rect">
            <a:avLst/>
          </a:prstGeom>
          <a:noFill/>
        </p:spPr>
        <p:txBody>
          <a:bodyPr wrap="square">
            <a:spAutoFit/>
          </a:bodyPr>
          <a:lstStyle/>
          <a:p>
            <a:r>
              <a:rPr sz="1100">
                <a:solidFill>
                  <a:srgbClr val="CBD5E1"/>
                </a:solidFill>
              </a:rPr>
              <a:t>Service watchlist per admin — personalized feed based on your AWS footprint</a:t>
            </a:r>
          </a:p>
        </p:txBody>
      </p:sp>
      <p:sp>
        <p:nvSpPr>
          <p:cNvPr id="15" name="Rectangle 14"/>
          <p:cNvSpPr/>
          <p:nvPr/>
        </p:nvSpPr>
        <p:spPr>
          <a:xfrm>
            <a:off x="612648" y="4334256"/>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 y="4467606"/>
            <a:ext cx="109728" cy="109728"/>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425696"/>
            <a:ext cx="2926080" cy="1097280"/>
          </a:xfrm>
          <a:prstGeom prst="rect">
            <a:avLst/>
          </a:prstGeom>
          <a:noFill/>
        </p:spPr>
        <p:txBody>
          <a:bodyPr wrap="square">
            <a:spAutoFit/>
          </a:bodyPr>
          <a:lstStyle/>
          <a:p>
            <a:r>
              <a:rPr sz="1100">
                <a:solidFill>
                  <a:srgbClr val="CBD5E1"/>
                </a:solidFill>
              </a:rPr>
              <a:t>Weekly digest email: top 5 features relevant to your services</a:t>
            </a:r>
          </a:p>
        </p:txBody>
      </p:sp>
      <p:sp>
        <p:nvSpPr>
          <p:cNvPr id="18" name="Rectangle 17"/>
          <p:cNvSpPr/>
          <p:nvPr/>
        </p:nvSpPr>
        <p:spPr>
          <a:xfrm>
            <a:off x="4325112" y="1005840"/>
            <a:ext cx="3703320" cy="5029200"/>
          </a:xfrm>
          <a:prstGeom prst="rect">
            <a:avLst/>
          </a:prstGeom>
          <a:solidFill>
            <a:srgbClr val="1A2635"/>
          </a:solidFill>
          <a:ln w="25400">
            <a:solidFill>
              <a:srgbClr val="146E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5112" y="1005840"/>
            <a:ext cx="3703320" cy="402336"/>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5112" y="1060704"/>
            <a:ext cx="3703320" cy="310896"/>
          </a:xfrm>
          <a:prstGeom prst="rect">
            <a:avLst/>
          </a:prstGeom>
          <a:noFill/>
        </p:spPr>
        <p:txBody>
          <a:bodyPr wrap="square">
            <a:spAutoFit/>
          </a:bodyPr>
          <a:lstStyle/>
          <a:p>
            <a:pPr algn="ctr"/>
            <a:r>
              <a:rPr sz="1600" b="1" i="0">
                <a:solidFill>
                  <a:srgbClr val="232F3E"/>
                </a:solidFill>
              </a:rPr>
              <a:t>Q3 2026</a:t>
            </a:r>
          </a:p>
        </p:txBody>
      </p:sp>
      <p:sp>
        <p:nvSpPr>
          <p:cNvPr id="21" name="Rectangle 20"/>
          <p:cNvSpPr/>
          <p:nvPr/>
        </p:nvSpPr>
        <p:spPr>
          <a:xfrm>
            <a:off x="4526280" y="1554480"/>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17720" y="1687830"/>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8888" y="1645920"/>
            <a:ext cx="2926080" cy="1097280"/>
          </a:xfrm>
          <a:prstGeom prst="rect">
            <a:avLst/>
          </a:prstGeom>
          <a:noFill/>
        </p:spPr>
        <p:txBody>
          <a:bodyPr wrap="square">
            <a:spAutoFit/>
          </a:bodyPr>
          <a:lstStyle/>
          <a:p>
            <a:r>
              <a:rPr sz="1100">
                <a:solidFill>
                  <a:srgbClr val="CBD5E1"/>
                </a:solidFill>
              </a:rPr>
              <a:t>Impact scoring — Claude estimates cost/effort/risk of adopting each feature</a:t>
            </a:r>
          </a:p>
        </p:txBody>
      </p:sp>
      <p:sp>
        <p:nvSpPr>
          <p:cNvPr id="24" name="Rectangle 23"/>
          <p:cNvSpPr/>
          <p:nvPr/>
        </p:nvSpPr>
        <p:spPr>
          <a:xfrm>
            <a:off x="4526280" y="2944368"/>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17720" y="3077718"/>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8888" y="3035808"/>
            <a:ext cx="2926080" cy="1097280"/>
          </a:xfrm>
          <a:prstGeom prst="rect">
            <a:avLst/>
          </a:prstGeom>
          <a:noFill/>
        </p:spPr>
        <p:txBody>
          <a:bodyPr wrap="square">
            <a:spAutoFit/>
          </a:bodyPr>
          <a:lstStyle/>
          <a:p>
            <a:r>
              <a:rPr sz="1100">
                <a:solidFill>
                  <a:srgbClr val="CBD5E1"/>
                </a:solidFill>
              </a:rPr>
              <a:t>Multi-account tagging — link features to the accounts/OUs they affect</a:t>
            </a:r>
          </a:p>
        </p:txBody>
      </p:sp>
      <p:sp>
        <p:nvSpPr>
          <p:cNvPr id="27" name="Rectangle 26"/>
          <p:cNvSpPr/>
          <p:nvPr/>
        </p:nvSpPr>
        <p:spPr>
          <a:xfrm>
            <a:off x="4526280" y="4334256"/>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7720" y="4467606"/>
            <a:ext cx="109728" cy="109728"/>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18888" y="4425696"/>
            <a:ext cx="2926080" cy="1097280"/>
          </a:xfrm>
          <a:prstGeom prst="rect">
            <a:avLst/>
          </a:prstGeom>
          <a:noFill/>
        </p:spPr>
        <p:txBody>
          <a:bodyPr wrap="square">
            <a:spAutoFit/>
          </a:bodyPr>
          <a:lstStyle/>
          <a:p>
            <a:r>
              <a:rPr sz="1100">
                <a:solidFill>
                  <a:srgbClr val="CBD5E1"/>
                </a:solidFill>
              </a:rPr>
              <a:t>Internal comments &amp; status tracking (evaluating / piloting / adopted / declined)</a:t>
            </a:r>
          </a:p>
        </p:txBody>
      </p:sp>
      <p:sp>
        <p:nvSpPr>
          <p:cNvPr id="30" name="Rectangle 29"/>
          <p:cNvSpPr/>
          <p:nvPr/>
        </p:nvSpPr>
        <p:spPr>
          <a:xfrm>
            <a:off x="8238744" y="1005840"/>
            <a:ext cx="3703320" cy="5029200"/>
          </a:xfrm>
          <a:prstGeom prst="rect">
            <a:avLst/>
          </a:prstGeom>
          <a:solidFill>
            <a:srgbClr val="1A2635"/>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38744" y="1005840"/>
            <a:ext cx="3703320"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38744" y="1060704"/>
            <a:ext cx="3703320" cy="310896"/>
          </a:xfrm>
          <a:prstGeom prst="rect">
            <a:avLst/>
          </a:prstGeom>
          <a:noFill/>
        </p:spPr>
        <p:txBody>
          <a:bodyPr wrap="square">
            <a:spAutoFit/>
          </a:bodyPr>
          <a:lstStyle/>
          <a:p>
            <a:pPr algn="ctr"/>
            <a:r>
              <a:rPr sz="1600" b="1" i="0">
                <a:solidFill>
                  <a:srgbClr val="232F3E"/>
                </a:solidFill>
              </a:rPr>
              <a:t>Q4 2026</a:t>
            </a:r>
          </a:p>
        </p:txBody>
      </p:sp>
      <p:sp>
        <p:nvSpPr>
          <p:cNvPr id="33" name="Rectangle 32"/>
          <p:cNvSpPr/>
          <p:nvPr/>
        </p:nvSpPr>
        <p:spPr>
          <a:xfrm>
            <a:off x="8439912" y="1554480"/>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31352" y="1687830"/>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645920"/>
            <a:ext cx="2926080" cy="1097280"/>
          </a:xfrm>
          <a:prstGeom prst="rect">
            <a:avLst/>
          </a:prstGeom>
          <a:noFill/>
        </p:spPr>
        <p:txBody>
          <a:bodyPr wrap="square">
            <a:spAutoFit/>
          </a:bodyPr>
          <a:lstStyle/>
          <a:p>
            <a:r>
              <a:rPr sz="1100">
                <a:solidFill>
                  <a:srgbClr val="CBD5E1"/>
                </a:solidFill>
              </a:rPr>
              <a:t>Cost savings calculator — estimate savings from price-change announcements</a:t>
            </a:r>
          </a:p>
        </p:txBody>
      </p:sp>
      <p:sp>
        <p:nvSpPr>
          <p:cNvPr id="36" name="Rectangle 35"/>
          <p:cNvSpPr/>
          <p:nvPr/>
        </p:nvSpPr>
        <p:spPr>
          <a:xfrm>
            <a:off x="8439912" y="2944368"/>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531352" y="3077718"/>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32520" y="3035808"/>
            <a:ext cx="2926080" cy="1097280"/>
          </a:xfrm>
          <a:prstGeom prst="rect">
            <a:avLst/>
          </a:prstGeom>
          <a:noFill/>
        </p:spPr>
        <p:txBody>
          <a:bodyPr wrap="square">
            <a:spAutoFit/>
          </a:bodyPr>
          <a:lstStyle/>
          <a:p>
            <a:r>
              <a:rPr sz="1100">
                <a:solidFill>
                  <a:srgbClr val="CBD5E1"/>
                </a:solidFill>
              </a:rPr>
              <a:t>Deprecation calendar — automatic JIRA tickets for EOL features</a:t>
            </a:r>
          </a:p>
        </p:txBody>
      </p:sp>
      <p:sp>
        <p:nvSpPr>
          <p:cNvPr id="39" name="Rectangle 38"/>
          <p:cNvSpPr/>
          <p:nvPr/>
        </p:nvSpPr>
        <p:spPr>
          <a:xfrm>
            <a:off x="8439912" y="4334256"/>
            <a:ext cx="3310128" cy="1280160"/>
          </a:xfrm>
          <a:prstGeom prst="rect">
            <a:avLst/>
          </a:prstGeom>
          <a:solidFill>
            <a:srgbClr val="2332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31352" y="4467606"/>
            <a:ext cx="109728" cy="10972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32520" y="4425696"/>
            <a:ext cx="2926080" cy="1097280"/>
          </a:xfrm>
          <a:prstGeom prst="rect">
            <a:avLst/>
          </a:prstGeom>
          <a:noFill/>
        </p:spPr>
        <p:txBody>
          <a:bodyPr wrap="square">
            <a:spAutoFit/>
          </a:bodyPr>
          <a:lstStyle/>
          <a:p>
            <a:r>
              <a:rPr sz="1100">
                <a:solidFill>
                  <a:srgbClr val="CBD5E1"/>
                </a:solidFill>
              </a:rPr>
              <a:t>Executive dashboard — monthly report of adopted innovations and estimated savings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23619"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047238"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0857"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094476"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18095"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1714"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65333"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188952" y="0"/>
            <a:ext cx="6350" cy="6858000"/>
          </a:xfrm>
          <a:prstGeom prst="rect">
            <a:avLst/>
          </a:prstGeom>
          <a:solidFill>
            <a:srgbClr val="2D3F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005840"/>
            <a:ext cx="10515600" cy="365760"/>
          </a:xfrm>
          <a:prstGeom prst="rect">
            <a:avLst/>
          </a:prstGeom>
          <a:noFill/>
        </p:spPr>
        <p:txBody>
          <a:bodyPr wrap="square">
            <a:spAutoFit/>
          </a:bodyPr>
          <a:lstStyle/>
          <a:p>
            <a:pPr algn="l"/>
            <a:r>
              <a:rPr sz="2400" b="0" i="1">
                <a:solidFill>
                  <a:srgbClr val="94A3B8"/>
                </a:solidFill>
              </a:rPr>
              <a:t>The tracker is live today.</a:t>
            </a:r>
          </a:p>
        </p:txBody>
      </p:sp>
      <p:sp>
        <p:nvSpPr>
          <p:cNvPr id="13" name="TextBox 12"/>
          <p:cNvSpPr txBox="1"/>
          <p:nvPr/>
        </p:nvSpPr>
        <p:spPr>
          <a:xfrm>
            <a:off x="594360" y="1508760"/>
            <a:ext cx="10515600" cy="914400"/>
          </a:xfrm>
          <a:prstGeom prst="rect">
            <a:avLst/>
          </a:prstGeom>
          <a:noFill/>
        </p:spPr>
        <p:txBody>
          <a:bodyPr wrap="square">
            <a:spAutoFit/>
          </a:bodyPr>
          <a:lstStyle/>
          <a:p>
            <a:pPr algn="l"/>
            <a:r>
              <a:rPr sz="5200" b="1" i="0">
                <a:solidFill>
                  <a:srgbClr val="FFFFFF"/>
                </a:solidFill>
              </a:rPr>
              <a:t>Start using it this week.</a:t>
            </a:r>
          </a:p>
        </p:txBody>
      </p:sp>
      <p:sp>
        <p:nvSpPr>
          <p:cNvPr id="14" name="TextBox 13"/>
          <p:cNvSpPr txBox="1"/>
          <p:nvPr/>
        </p:nvSpPr>
        <p:spPr>
          <a:xfrm>
            <a:off x="594360" y="2578608"/>
            <a:ext cx="10058400" cy="384048"/>
          </a:xfrm>
          <a:prstGeom prst="rect">
            <a:avLst/>
          </a:prstGeom>
          <a:noFill/>
        </p:spPr>
        <p:txBody>
          <a:bodyPr wrap="square">
            <a:spAutoFit/>
          </a:bodyPr>
          <a:lstStyle/>
          <a:p>
            <a:pPr algn="l"/>
            <a:r>
              <a:rPr sz="2000" b="1" i="0">
                <a:solidFill>
                  <a:srgbClr val="FF9900"/>
                </a:solidFill>
              </a:rPr>
              <a:t>https://d1s77r5nnbdjdt.cloudfront.net</a:t>
            </a:r>
          </a:p>
        </p:txBody>
      </p:sp>
      <p:sp>
        <p:nvSpPr>
          <p:cNvPr id="15" name="Rectangle 14"/>
          <p:cNvSpPr/>
          <p:nvPr/>
        </p:nvSpPr>
        <p:spPr>
          <a:xfrm>
            <a:off x="594360" y="3383280"/>
            <a:ext cx="3566160" cy="2194560"/>
          </a:xfrm>
          <a:prstGeom prst="rect">
            <a:avLst/>
          </a:prstGeom>
          <a:solidFill>
            <a:srgbClr val="1A2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 y="3383280"/>
            <a:ext cx="3566160" cy="7315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3547872"/>
            <a:ext cx="3291840" cy="292608"/>
          </a:xfrm>
          <a:prstGeom prst="rect">
            <a:avLst/>
          </a:prstGeom>
          <a:noFill/>
        </p:spPr>
        <p:txBody>
          <a:bodyPr wrap="square">
            <a:spAutoFit/>
          </a:bodyPr>
          <a:lstStyle/>
          <a:p>
            <a:pPr algn="l"/>
            <a:r>
              <a:rPr sz="1400" b="1" i="0">
                <a:solidFill>
                  <a:srgbClr val="FFFFFF"/>
                </a:solidFill>
              </a:rPr>
              <a:t>Try It Now</a:t>
            </a:r>
          </a:p>
        </p:txBody>
      </p:sp>
      <p:sp>
        <p:nvSpPr>
          <p:cNvPr id="18" name="TextBox 17"/>
          <p:cNvSpPr txBox="1"/>
          <p:nvPr/>
        </p:nvSpPr>
        <p:spPr>
          <a:xfrm>
            <a:off x="758952" y="3913632"/>
            <a:ext cx="3291840" cy="1508760"/>
          </a:xfrm>
          <a:prstGeom prst="rect">
            <a:avLst/>
          </a:prstGeom>
          <a:noFill/>
        </p:spPr>
        <p:txBody>
          <a:bodyPr wrap="square">
            <a:spAutoFit/>
          </a:bodyPr>
          <a:lstStyle/>
          <a:p>
            <a:pPr algn="l"/>
            <a:r>
              <a:rPr sz="1050" b="0" i="0">
                <a:solidFill>
                  <a:srgbClr val="CBD5E1"/>
                </a:solidFill>
              </a:rPr>
              <a:t>Open the app, search for any service you manage, and find features you may have missed.</a:t>
            </a:r>
          </a:p>
        </p:txBody>
      </p:sp>
      <p:sp>
        <p:nvSpPr>
          <p:cNvPr id="19" name="Rectangle 18"/>
          <p:cNvSpPr/>
          <p:nvPr/>
        </p:nvSpPr>
        <p:spPr>
          <a:xfrm>
            <a:off x="4389120" y="3383280"/>
            <a:ext cx="3566160" cy="2194560"/>
          </a:xfrm>
          <a:prstGeom prst="rect">
            <a:avLst/>
          </a:prstGeom>
          <a:solidFill>
            <a:srgbClr val="1A2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3383280"/>
            <a:ext cx="3566160" cy="73152"/>
          </a:xfrm>
          <a:prstGeom prst="rect">
            <a:avLst/>
          </a:prstGeom>
          <a:solidFill>
            <a:srgbClr val="146E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3712" y="3547872"/>
            <a:ext cx="3291840" cy="292608"/>
          </a:xfrm>
          <a:prstGeom prst="rect">
            <a:avLst/>
          </a:prstGeom>
          <a:noFill/>
        </p:spPr>
        <p:txBody>
          <a:bodyPr wrap="square">
            <a:spAutoFit/>
          </a:bodyPr>
          <a:lstStyle/>
          <a:p>
            <a:pPr algn="l"/>
            <a:r>
              <a:rPr sz="1400" b="1" i="0">
                <a:solidFill>
                  <a:srgbClr val="FFFFFF"/>
                </a:solidFill>
              </a:rPr>
              <a:t>Add Your Watchlist</a:t>
            </a:r>
          </a:p>
        </p:txBody>
      </p:sp>
      <p:sp>
        <p:nvSpPr>
          <p:cNvPr id="22" name="TextBox 21"/>
          <p:cNvSpPr txBox="1"/>
          <p:nvPr/>
        </p:nvSpPr>
        <p:spPr>
          <a:xfrm>
            <a:off x="4553712" y="3913632"/>
            <a:ext cx="3291840" cy="1508760"/>
          </a:xfrm>
          <a:prstGeom prst="rect">
            <a:avLst/>
          </a:prstGeom>
          <a:noFill/>
        </p:spPr>
        <p:txBody>
          <a:bodyPr wrap="square">
            <a:spAutoFit/>
          </a:bodyPr>
          <a:lstStyle/>
          <a:p>
            <a:pPr algn="l"/>
            <a:r>
              <a:rPr sz="1050" b="0" i="0">
                <a:solidFill>
                  <a:srgbClr val="CBD5E1"/>
                </a:solidFill>
              </a:rPr>
              <a:t>Tell us the top 10 AWS services your team owns — we'll prioritize those in the next sprint.</a:t>
            </a:r>
          </a:p>
        </p:txBody>
      </p:sp>
      <p:sp>
        <p:nvSpPr>
          <p:cNvPr id="23" name="Rectangle 22"/>
          <p:cNvSpPr/>
          <p:nvPr/>
        </p:nvSpPr>
        <p:spPr>
          <a:xfrm>
            <a:off x="8183880" y="3383280"/>
            <a:ext cx="3566160" cy="2194560"/>
          </a:xfrm>
          <a:prstGeom prst="rect">
            <a:avLst/>
          </a:prstGeom>
          <a:solidFill>
            <a:srgbClr val="1A2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80" y="3383280"/>
            <a:ext cx="3566160" cy="731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2" y="3547872"/>
            <a:ext cx="3291840" cy="292608"/>
          </a:xfrm>
          <a:prstGeom prst="rect">
            <a:avLst/>
          </a:prstGeom>
          <a:noFill/>
        </p:spPr>
        <p:txBody>
          <a:bodyPr wrap="square">
            <a:spAutoFit/>
          </a:bodyPr>
          <a:lstStyle/>
          <a:p>
            <a:pPr algn="l"/>
            <a:r>
              <a:rPr sz="1400" b="1" i="0">
                <a:solidFill>
                  <a:srgbClr val="FFFFFF"/>
                </a:solidFill>
              </a:rPr>
              <a:t>Give Feedback</a:t>
            </a:r>
          </a:p>
        </p:txBody>
      </p:sp>
      <p:sp>
        <p:nvSpPr>
          <p:cNvPr id="26" name="TextBox 25"/>
          <p:cNvSpPr txBox="1"/>
          <p:nvPr/>
        </p:nvSpPr>
        <p:spPr>
          <a:xfrm>
            <a:off x="8348472" y="3913632"/>
            <a:ext cx="3291840" cy="1508760"/>
          </a:xfrm>
          <a:prstGeom prst="rect">
            <a:avLst/>
          </a:prstGeom>
          <a:noFill/>
        </p:spPr>
        <p:txBody>
          <a:bodyPr wrap="square">
            <a:spAutoFit/>
          </a:bodyPr>
          <a:lstStyle/>
          <a:p>
            <a:pPr algn="l"/>
            <a:r>
              <a:rPr sz="1050" b="0" i="0">
                <a:solidFill>
                  <a:srgbClr val="CBD5E1"/>
                </a:solidFill>
              </a:rPr>
              <a:t>What filters, integrations, or views would make this indispensable for your workflow?</a:t>
            </a:r>
          </a:p>
        </p:txBody>
      </p:sp>
      <p:sp>
        <p:nvSpPr>
          <p:cNvPr id="27" name="Rectangle 26"/>
          <p:cNvSpPr/>
          <p:nvPr/>
        </p:nvSpPr>
        <p:spPr>
          <a:xfrm>
            <a:off x="0" y="6400800"/>
            <a:ext cx="12188952" cy="457200"/>
          </a:xfrm>
          <a:prstGeom prst="rect">
            <a:avLst/>
          </a:prstGeom>
          <a:solidFill>
            <a:srgbClr val="142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0" y="6437376"/>
            <a:ext cx="12188952" cy="384048"/>
          </a:xfrm>
          <a:prstGeom prst="rect">
            <a:avLst/>
          </a:prstGeom>
          <a:noFill/>
        </p:spPr>
        <p:txBody>
          <a:bodyPr wrap="square">
            <a:spAutoFit/>
          </a:bodyPr>
          <a:lstStyle/>
          <a:p>
            <a:pPr algn="ctr"/>
            <a:r>
              <a:rPr sz="900" b="0" i="0">
                <a:solidFill>
                  <a:srgbClr val="94A3B8"/>
                </a:solidFill>
              </a:rPr>
              <a:t>AWS Features Tracker  ·  Built on AWS SAM · Lambda · Bedrock · DynamoDB · CloudFront  ·  ~$0.31/month  ·  April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