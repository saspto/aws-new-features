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961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885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847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19809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3771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67733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191695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960120"/>
            <a:ext cx="658368" cy="43891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987552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2F3E"/>
                </a:solidFill>
              </a:rPr>
              <a:t>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554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900"/>
                </a:solidFill>
              </a:rPr>
              <a:t>INNOVATION DEMO  ·  AWS ADMINISTRATION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AWS Features 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54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>
                <a:solidFill>
                  <a:srgbClr val="CBD5E1"/>
                </a:solidFill>
              </a:rPr>
              <a:t>AI-Powered Discovery, Summarization &amp; Search of AWS Announcements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86200"/>
            <a:ext cx="2788920" cy="384048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04487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Real-time RSS ingestion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79" y="3886200"/>
            <a:ext cx="2788920" cy="384048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79" y="3904487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Claude Haiku AI summaries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3886200"/>
            <a:ext cx="2788920" cy="384048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904487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Searchable web 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14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0" y="6455664"/>
            <a:ext cx="1219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Presented by the Cloud Administration Team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601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Challenge: Staying Ahead of AWS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9900"/>
                </a:solidFill>
              </a:rPr>
              <a:t>AWS releases 2,000+ new features per year — how do admins keep up?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106424"/>
            <a:ext cx="2651760" cy="13898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26517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9900"/>
                </a:solidFill>
              </a:rPr>
              <a:t>2,000+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4708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</a:rPr>
              <a:t>new AWS
features/year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106424"/>
            <a:ext cx="2651760" cy="13898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5848" y="1078992"/>
            <a:ext cx="26517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1704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9900"/>
                </a:solidFill>
              </a:rPr>
              <a:t>~5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4708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</a:rPr>
              <a:t>avg reading
time each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106424"/>
            <a:ext cx="2651760" cy="13898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078992"/>
            <a:ext cx="26517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11704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9900"/>
                </a:solidFill>
              </a:rPr>
              <a:t>166 hrs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84708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</a:rPr>
              <a:t>total annual
reading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106424"/>
            <a:ext cx="2651760" cy="13898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1704" y="1078992"/>
            <a:ext cx="26517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11704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9900"/>
                </a:solidFill>
              </a:rPr>
              <a:t>$0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704" y="184708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</a:rPr>
              <a:t>billable value
of that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633472"/>
            <a:ext cx="111861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157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Pain Points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24758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3127248"/>
            <a:ext cx="73334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Manual RSS monitoring — easy to miss critical announcements across dozens of categories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81958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3584448"/>
            <a:ext cx="73334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No searchable history: 'Did AWS update Lambda concurrency limits this quarter?'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239158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4041648"/>
            <a:ext cx="73334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Raw HTML descriptions bury critical details in marketing language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696358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4498848"/>
            <a:ext cx="73334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No service-level filtering — irrelevant noise drowns out what matters to your team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153558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4956048"/>
            <a:ext cx="73334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Knowledge is siloed — each admin tracks different services independently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94192" y="2743200"/>
            <a:ext cx="3310128" cy="312724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66760" y="2715768"/>
            <a:ext cx="3310128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2816352"/>
            <a:ext cx="3072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900"/>
                </a:solidFill>
              </a:rPr>
              <a:t>The Opportunity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632" y="3182112"/>
            <a:ext cx="307238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Automate the discovery, summarization, and cataloguing of every AWS announcement — so admins spend minutes on insights instead of hours on reading.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900"/>
                </a:solidFill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AWS Features Tracker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207008"/>
            <a:ext cx="1993392" cy="10058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98448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EventBridge
Scheduler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709928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Every 6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5544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6896" y="1207008"/>
            <a:ext cx="1993392" cy="100584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1298448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Fetcher
Lambda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1709928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Parses RSS · Dedupes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5544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207008"/>
            <a:ext cx="1993392" cy="1005840"/>
          </a:xfrm>
          <a:prstGeom prst="rect">
            <a:avLst/>
          </a:prstGeom>
          <a:solidFill>
            <a:srgbClr val="0FB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298448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SQS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709928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Reliable delivery
3× retry + DLQ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15544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95744" y="1207008"/>
            <a:ext cx="199339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5744" y="1298448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Summarizer
Lambda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1709928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Claude Haiku
via Bedrock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55448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45168" y="1207008"/>
            <a:ext cx="1993392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1298448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DynamoDB
+ 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1709928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Persistent store
JSON archive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24231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▼  API &amp; Frontend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2788920"/>
            <a:ext cx="1993392" cy="100584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880360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API Gateway
HTTP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3291840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5 REST routes
Read-only, no 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313639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96896" y="2788920"/>
            <a:ext cx="1993392" cy="1005840"/>
          </a:xfrm>
          <a:prstGeom prst="rect">
            <a:avLst/>
          </a:prstGeom>
          <a:solidFill>
            <a:srgbClr val="0FB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96896" y="2880360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API Lambda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96896" y="3291840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/features /services
/types /health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313639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788920"/>
            <a:ext cx="1993392" cy="10058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2880360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CloudFront CDN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3291840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Edge caching
/api/* passthrough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94576" y="313639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95744" y="2788920"/>
            <a:ext cx="1993392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95744" y="2880360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React SPA (S3)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744" y="3291840"/>
            <a:ext cx="19933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TypeScript + Vite
Tailwind CSS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" y="400507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Tech Stack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4297680"/>
            <a:ext cx="1865376" cy="3657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431596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Python 3.12 · Lambda arm64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04288" y="4297680"/>
            <a:ext cx="1865376" cy="3657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04288" y="431596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Amazon Bedrock · Claude Haiku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1104" y="4297680"/>
            <a:ext cx="1865376" cy="3657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61104" y="431596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DynamoDB on-demand · S3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297680"/>
            <a:ext cx="1865376" cy="3657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431596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React 18 + TypeScript + Vite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74736" y="4297680"/>
            <a:ext cx="1865376" cy="3657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74736" y="431596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AWS SAM (Infrastructure as Code)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31552" y="4297680"/>
            <a:ext cx="1865376" cy="36576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31552" y="431596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~$0.31 / 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Built for AWS Admins Who Research &amp;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9900"/>
                </a:solidFill>
              </a:rPr>
              <a:t>Every feature is designed around the admin workflow — discover, evaluate, 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97864"/>
            <a:ext cx="3703320" cy="16642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170432"/>
            <a:ext cx="37033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170432"/>
            <a:ext cx="73152" cy="16642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261872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Automated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572768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Fetches aws.amazon.com/new/feed/ every 6 hours via EventBridge Scheduler. Zero manual effort.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" y="2232964"/>
            <a:ext cx="9144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483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No manual RSS monitoring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" y="2525572"/>
            <a:ext cx="9144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7744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Deduplication on guid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1197864"/>
            <a:ext cx="3703320" cy="16642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7096" y="1170432"/>
            <a:ext cx="37033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7096" y="1170432"/>
            <a:ext cx="73152" cy="1664208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4256" y="1261872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AI-Generated Summaries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1572768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Claude Haiku (Bedrock) produces 3-5 sentence engineer-focused summaries with structured output.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4256" y="2232964"/>
            <a:ext cx="91440" cy="9144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208483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Feature type auto-classified (8 categories)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2525572"/>
            <a:ext cx="91440" cy="9144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237744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3 key points extracted per announcement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576" y="1197864"/>
            <a:ext cx="3703320" cy="16642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0144" y="1170432"/>
            <a:ext cx="37033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1170432"/>
            <a:ext cx="73152" cy="16642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7304" y="1261872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Powerful Search &amp; Filters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7304" y="1572768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Full-text search across title, summary and service. Filter by service, type, date. URL-based state.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7304" y="2232964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208483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Search 'lambda timeout' — instant results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47304" y="2525572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237744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Date range: what changed in Q1 2026?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953512"/>
            <a:ext cx="3703320" cy="16642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048" y="2926080"/>
            <a:ext cx="37033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2926080"/>
            <a:ext cx="73152" cy="1664208"/>
          </a:xfrm>
          <a:prstGeom prst="rect">
            <a:avLst/>
          </a:prstGeom>
          <a:solidFill>
            <a:srgbClr val="0FB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3017520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Feature Type Classification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" y="3328416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Bedrock classifies every item into one of 8 types: new-feature, GA, preview, deprecation, and more.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" y="3988612"/>
            <a:ext cx="91440" cy="91440"/>
          </a:xfrm>
          <a:prstGeom prst="rect">
            <a:avLst/>
          </a:prstGeom>
          <a:solidFill>
            <a:srgbClr val="0FB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8404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Color-coded badges for instant scanning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" y="4281220"/>
            <a:ext cx="91440" cy="91440"/>
          </a:xfrm>
          <a:prstGeom prst="rect">
            <a:avLst/>
          </a:prstGeom>
          <a:solidFill>
            <a:srgbClr val="0FB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13308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Filter dashboard to only what matters today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24528" y="2953512"/>
            <a:ext cx="3703320" cy="16642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97096" y="2926080"/>
            <a:ext cx="37033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97096" y="2926080"/>
            <a:ext cx="73152" cy="16642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34256" y="3017520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Shareable URLs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6" y="3328416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All filters live in the URL. Copy the link and share a specific filtered view with any team member.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34256" y="3988612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98848" y="38404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Bookmark filtered views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4256" y="4281220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98848" y="413308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Back button preserves search context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37576" y="2953512"/>
            <a:ext cx="3703320" cy="166420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10144" y="2926080"/>
            <a:ext cx="37033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10144" y="2926080"/>
            <a:ext cx="73152" cy="16642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47304" y="3017520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Reliability Built-In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47304" y="3328416"/>
            <a:ext cx="3502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SQS DLQ retries failures 3×. CloudWatch alarms on errors and DLQ depth. IAM least-privilege.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47304" y="3988612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11896" y="38404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DLQ 7-day retention — no announcement lost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47304" y="4281220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11896" y="413308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CloudWatch alarms on errors and DLQ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900"/>
                </a:solidFill>
              </a:rPr>
              <a:t>LIVE DEMO — SEARCH &amp;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Main Dashboard — Browse &amp; Search All AWS Announcements</a:t>
            </a:r>
          </a:p>
        </p:txBody>
      </p:sp>
      <p:pic>
        <p:nvPicPr>
          <p:cNvPr id="6" name="Picture 5" descr="screen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41248"/>
            <a:ext cx="7662672" cy="59070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92440" y="841248"/>
            <a:ext cx="2852928" cy="5907024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841248"/>
            <a:ext cx="54864" cy="590702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100584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9900"/>
                </a:solidFill>
              </a:rPr>
              <a:t>KEY HIGHLIGHTS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7032" y="1371600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57032" y="1371600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4630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Live search bar
with 300ms debounce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57032" y="2231136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2231136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2322576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Filters: service,
type, date, sort 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7032" y="3090672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7032" y="3090672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31821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Result count
always visible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7032" y="3950208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7032" y="3950208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40416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Color-coded
feature type badges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2" y="4809744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57032" y="4809744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490118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AI key points
expandable per card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7032" y="5669279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57032" y="5669279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576071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Direct link to
AWS announcement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900"/>
                </a:solidFill>
              </a:rPr>
              <a:t>LIVE DEMO — FEATURE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Feature Detail Page — Deep-Dive Into Any Announcement</a:t>
            </a:r>
          </a:p>
        </p:txBody>
      </p:sp>
      <p:pic>
        <p:nvPicPr>
          <p:cNvPr id="6" name="Picture 5" descr="scree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41248"/>
            <a:ext cx="7662672" cy="59070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92440" y="841248"/>
            <a:ext cx="2852928" cy="5907024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841248"/>
            <a:ext cx="54864" cy="590702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100584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9900"/>
                </a:solidFill>
              </a:rPr>
              <a:t>KEY HIGHLIGHTS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7032" y="1371600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57032" y="1371600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4630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Badges: date,
service, domain,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57032" y="2231136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2231136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2322576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3–5 sentence AI
summary, engineer-focused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7032" y="3090672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7032" y="3090672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31821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Structured key
points for evaluation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7032" y="3950208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7032" y="3950208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40416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One-click link to
AWS announcement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2" y="4809744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57032" y="4809744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490118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Back button
preserves search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7032" y="5669279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57032" y="5669279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576071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Summarized-at
timestamp for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900"/>
                </a:solidFill>
              </a:rPr>
              <a:t>LIVE DEMO — FILTER &amp;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Filtered: 'bedrock'  ·  service: amazon-bedrock  ·  type: new-feature</a:t>
            </a:r>
          </a:p>
        </p:txBody>
      </p:sp>
      <p:pic>
        <p:nvPicPr>
          <p:cNvPr id="6" name="Picture 5" descr="screen_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41248"/>
            <a:ext cx="7662672" cy="59070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92440" y="841248"/>
            <a:ext cx="2852928" cy="5907024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841248"/>
            <a:ext cx="54864" cy="590702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100584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9900"/>
                </a:solidFill>
              </a:rPr>
              <a:t>KEY HIGHLIGHTS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7032" y="1371600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57032" y="1371600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4630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Keyword search
matches title &amp; summary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57032" y="2231136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7032" y="2231136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2322576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Active filter pills
shown in header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7032" y="3090672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7032" y="3090672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31821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Real-time
result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7032" y="3950208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7032" y="3950208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40416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URL captures all
filters — shareable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2" y="4809744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57032" y="4809744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490118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Infinite scroll
auto-loads next page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7032" y="5669279"/>
            <a:ext cx="2596896" cy="749808"/>
          </a:xfrm>
          <a:prstGeom prst="rect">
            <a:avLst/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57032" y="5669279"/>
            <a:ext cx="36576" cy="7498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576071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Works across
all 8 feature types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Real-World Use Cases for AWS Admins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9900"/>
                </a:solidFill>
              </a:rPr>
              <a:t>From reactive monitoring to proactive innovation — the tracker enables both.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97864"/>
            <a:ext cx="3703320" cy="18470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170432"/>
            <a:ext cx="370332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170432"/>
            <a:ext cx="3703320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2893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Weekly Innovation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591056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Every Monday: filter last 7 days, sort newest first. In 15 minutes the team identifies 3-5 features worth piloting — replacing 2 hours of manual reading.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" y="2670048"/>
            <a:ext cx="3483864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8833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9900"/>
                </a:solidFill>
              </a:rPr>
              <a:t>from_date=7d ago · sort=newest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197864"/>
            <a:ext cx="3703320" cy="18470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97096" y="1170432"/>
            <a:ext cx="370332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7096" y="1170432"/>
            <a:ext cx="3703320" cy="64008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12893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Pre-Migration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1591056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Before adopting Graviton4, search 'graviton4' to see all GA announcements, enhancements, and price changes in one scrollable timeline.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2670048"/>
            <a:ext cx="3483864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268833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46EB4"/>
                </a:solidFill>
              </a:rPr>
              <a:t>q=graviton4 · type=general-availability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1197864"/>
            <a:ext cx="3703320" cy="18470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170432"/>
            <a:ext cx="370332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1170432"/>
            <a:ext cx="370332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12893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Deprecation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1591056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Filter type=deprecation to build a living list of EOL services. Share the URL with the architecture team as a standing reference bookmark.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9872" y="2670048"/>
            <a:ext cx="3483864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268833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6A34A"/>
                </a:solidFill>
              </a:rPr>
              <a:t>type=deprecation · sort=oldest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099816"/>
            <a:ext cx="3703320" cy="18470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3072384"/>
            <a:ext cx="370332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3072384"/>
            <a:ext cx="3703320" cy="64008"/>
          </a:xfrm>
          <a:prstGeom prst="rect">
            <a:avLst/>
          </a:prstGeom>
          <a:solidFill>
            <a:srgbClr val="0FB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319125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Cost Optimization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" y="3493008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Filter type=price-change to catch every DynamoDB, Lambda, and S3 reduction. Calculate savings and present the business case for migration.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" y="4572000"/>
            <a:ext cx="3483864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590288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FB5D4"/>
                </a:solidFill>
              </a:rPr>
              <a:t>type=price-change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3099816"/>
            <a:ext cx="3703320" cy="18470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97096" y="3072384"/>
            <a:ext cx="370332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97096" y="3072384"/>
            <a:ext cx="37033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06824" y="319125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New Service 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6824" y="3493008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Leadership asks 'should we adopt VPC Lattice?' — search the tracker for a complete feature history to assess service maturity and trajectory.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06824" y="4572000"/>
            <a:ext cx="3483864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61688" y="4590288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B5CF6"/>
                </a:solidFill>
              </a:rPr>
              <a:t>q=vpc lattice · date=2025-2026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7576" y="3099816"/>
            <a:ext cx="3703320" cy="18470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10144" y="3072384"/>
            <a:ext cx="370332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10144" y="3072384"/>
            <a:ext cx="370332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9872" y="319125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Region Expansion Watch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9872" y="3493008"/>
            <a:ext cx="3520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Filter type=region-expansion for services you use. Know the moment a needed service reaches your target region before checking the console.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19872" y="4572000"/>
            <a:ext cx="3483864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74736" y="4590288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F4444"/>
                </a:solidFill>
              </a:rPr>
              <a:t>type=region-expansion · service=amazon-eks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900"/>
                </a:solidFill>
              </a:rPr>
              <a:t>AI INTELLIGENCE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How Claude Haiku Transforms Raw AWS Announcements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5029200" cy="5376672"/>
          </a:xfrm>
          <a:prstGeom prst="rect">
            <a:avLst/>
          </a:prstGeom>
          <a:solidFill>
            <a:srgbClr val="1A2A3A"/>
          </a:solidFill>
          <a:ln w="9525">
            <a:solidFill>
              <a:srgbClr val="2D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5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RAW RSS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D3FC"/>
                </a:solidFill>
              </a:rPr>
              <a:t>&lt;title&gt;Amazon Bedrock Knowledge Bases now supports
semantic reranking for improved RAG accuracy&lt;/title&gt;
&lt;description&gt;
  &lt;p&gt;Amazon Bedrock Knowledge Bases now supports
  semantic reranking, a technique that improves
  retrieved results for RAG applications...&lt;/p&gt;
  &lt;p&gt;A cross-encoder model reranks initially retrieved
  chunks based on query relevance, reducing
  hallucinations and improving response quality...&lt;/p&gt;
&lt;/description&gt;
&lt;category&gt;general:products/amazon-bedrock&lt;/category&gt;
&lt;category&gt;marketing:marchitecture/ai-ml&lt;/category&gt;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128" y="3246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8112" y="376732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9900"/>
                </a:solidFill>
              </a:rPr>
              <a:t>Claude
Haiku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1968" y="987552"/>
            <a:ext cx="5029200" cy="5376672"/>
          </a:xfrm>
          <a:prstGeom prst="rect">
            <a:avLst/>
          </a:prstGeom>
          <a:solidFill>
            <a:srgbClr val="0D2A1A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042415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AI-ENRICHED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35331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feature_type: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1609344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900"/>
                </a:solidFill>
              </a:rPr>
              <a:t>new-feature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50545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summary: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76148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F7D0"/>
                </a:solidFill>
              </a:rPr>
              <a:t>Amazon Bedrock Knowledge Bases introduces semantic
reranking to improve retrieval accuracy in RAG
workflows. A cross-encoder model rescores retrieved
chunks by relevance, significantly reducing
hallucinations. Enable with a single API parameter.
Supports Amazon Rerank 1.0 and Cohere Rerank 3.5.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365760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key_points: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3913632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• Reduces hallucinations by rescoring chunks
• Supports Rerank 1.0 + Cohere Rerank 3.5
• Single RetrievalConfiguration API param
• No infra changes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Cost-Efficient, Secure, and Production-Ready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7665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9900"/>
                </a:solidFill>
              </a:rPr>
              <a:t>Minimal cost, FedRAMP-aligned services, least-privilege IAM, full observability.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06424"/>
            <a:ext cx="5321808" cy="44622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5321808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Monthly Cost Estimate (~500 features/month)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554480"/>
            <a:ext cx="5321808" cy="420624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6459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900"/>
                </a:solidFill>
              </a:rPr>
              <a:t>Monthly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665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Lambda (3 functions, arm64)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0665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6A34A"/>
                </a:solidFill>
              </a:rPr>
              <a:t>~$0.01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95728"/>
            <a:ext cx="5321808" cy="42062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871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DynamoDB on-demand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4871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6A34A"/>
                </a:solidFill>
              </a:rPr>
              <a:t>~$0.02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077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S3 (summaries + SPA assets)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9077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6A34A"/>
                </a:solidFill>
              </a:rPr>
              <a:t>~$0.03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36976"/>
            <a:ext cx="5321808" cy="42062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284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CloudFront (PriceClass_100)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3284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6A34A"/>
                </a:solidFill>
              </a:rPr>
              <a:t>~$0.10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490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Bedrock Claude Haiku (500 summaries)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749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6A34A"/>
                </a:solidFill>
              </a:rPr>
              <a:t>~$0.15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78224"/>
            <a:ext cx="5321808" cy="42062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696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SQS + EventBridge Scheduler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1696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6A34A"/>
                </a:solidFill>
              </a:rPr>
              <a:t>$0.00  (free tier)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498848"/>
            <a:ext cx="5321808" cy="420624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902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5902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900"/>
                </a:solidFill>
              </a:rPr>
              <a:t>~$0.31/month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106424"/>
            <a:ext cx="5596128" cy="2057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53328" y="1078992"/>
            <a:ext cx="5596128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1170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Security &amp; Compliance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1692554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4224" y="153619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All services FedRAMP Moderate authorized (us-east-1 commercial)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1966874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181051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IAM least-privilege — each Lambda has only the permissions it needs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2241193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4224" y="2084831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S3 Block Public Access ON — CloudFront OAC, no direct bucket access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2515514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235915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No VPC required — all traffic via AWS service endpoints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2" y="2789834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4224" y="263347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API Gateway public read-only — no write surface exposed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3273552"/>
            <a:ext cx="5596128" cy="2304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53328" y="3246120"/>
            <a:ext cx="559612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3337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Reliability &amp; Observability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99632" y="3887114"/>
            <a:ext cx="91440" cy="9144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64224" y="373075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SQS DLQ with 7-day retention — no announcement ever lost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9632" y="4161434"/>
            <a:ext cx="91440" cy="9144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64224" y="400507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Up to 3 automatic Bedrock retries before dead-lettering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99632" y="4435754"/>
            <a:ext cx="91440" cy="9144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64224" y="427939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CloudWatch Alarm: Summarizer errors &gt; 10/hr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9632" y="4710074"/>
            <a:ext cx="91440" cy="9144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64224" y="455371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CloudWatch Alarm: DLQ messages &gt; 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99632" y="4984394"/>
            <a:ext cx="91440" cy="9144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64224" y="4828032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CloudFront + Lambda arm64 — low-latency, globally available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900"/>
                </a:solidFill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Roadmap — Where We Can Take This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60120"/>
            <a:ext cx="3703320" cy="5193792"/>
          </a:xfrm>
          <a:prstGeom prst="rect">
            <a:avLst/>
          </a:prstGeom>
          <a:solidFill>
            <a:srgbClr val="1A2635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3703320" cy="40233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014984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32F3E"/>
                </a:solidFill>
              </a:rPr>
              <a:t>Q2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490472"/>
            <a:ext cx="3310128" cy="1335024"/>
          </a:xfrm>
          <a:prstGeom prst="rect">
            <a:avLst/>
          </a:prstGeom>
          <a:solidFill>
            <a:srgbClr val="23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" y="1781251"/>
            <a:ext cx="9144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00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SNS / Slack alerts — ping #aws-updates when new features match your watchlist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2971800"/>
            <a:ext cx="3310128" cy="1335024"/>
          </a:xfrm>
          <a:prstGeom prst="rect">
            <a:avLst/>
          </a:prstGeom>
          <a:solidFill>
            <a:srgbClr val="23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" y="3262579"/>
            <a:ext cx="9144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081528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Per-admin service watchlist — personalized feed based on your AWS footprint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4453128"/>
            <a:ext cx="3310128" cy="1335024"/>
          </a:xfrm>
          <a:prstGeom prst="rect">
            <a:avLst/>
          </a:prstGeom>
          <a:solidFill>
            <a:srgbClr val="23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" y="4743907"/>
            <a:ext cx="9144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562856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Weekly digest email: top 5 features relevant to your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960120"/>
            <a:ext cx="3703320" cy="5193792"/>
          </a:xfrm>
          <a:prstGeom prst="rect">
            <a:avLst/>
          </a:prstGeom>
          <a:solidFill>
            <a:srgbClr val="1A2635"/>
          </a:solidFill>
          <a:ln w="19050">
            <a:solidFill>
              <a:srgbClr val="14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960120"/>
            <a:ext cx="3703320" cy="402336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014984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32F3E"/>
                </a:solidFill>
              </a:rPr>
              <a:t>Q3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8848" y="1490472"/>
            <a:ext cx="3310128" cy="1335024"/>
          </a:xfrm>
          <a:prstGeom prst="rect">
            <a:avLst/>
          </a:prstGeom>
          <a:solidFill>
            <a:srgbClr val="23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781251"/>
            <a:ext cx="91440" cy="9144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1600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Impact scoring — Claude estimates cost/effort/risk of adopting each feature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98848" y="2971800"/>
            <a:ext cx="3310128" cy="1335024"/>
          </a:xfrm>
          <a:prstGeom prst="rect">
            <a:avLst/>
          </a:prstGeom>
          <a:solidFill>
            <a:srgbClr val="23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08576" y="3262579"/>
            <a:ext cx="91440" cy="9144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3081528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Multi-account tagging — link features to the accounts/OUs they affect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98848" y="4453128"/>
            <a:ext cx="3310128" cy="1335024"/>
          </a:xfrm>
          <a:prstGeom prst="rect">
            <a:avLst/>
          </a:prstGeom>
          <a:solidFill>
            <a:srgbClr val="23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08576" y="4743907"/>
            <a:ext cx="91440" cy="91440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4562856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Comments &amp; status: evaluating / piloting / adopted / declined per team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11312" y="960120"/>
            <a:ext cx="3703320" cy="5193792"/>
          </a:xfrm>
          <a:prstGeom prst="rect">
            <a:avLst/>
          </a:prstGeom>
          <a:solidFill>
            <a:srgbClr val="1A263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11312" y="960120"/>
            <a:ext cx="3703320" cy="40233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1014984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32F3E"/>
                </a:solidFill>
              </a:rPr>
              <a:t>Q4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1490472"/>
            <a:ext cx="3310128" cy="1335024"/>
          </a:xfrm>
          <a:prstGeom prst="rect">
            <a:avLst/>
          </a:prstGeom>
          <a:solidFill>
            <a:srgbClr val="23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22208" y="1781251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1600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Cost savings calculator — quantify savings from price-change announcements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971800"/>
            <a:ext cx="3310128" cy="1335024"/>
          </a:xfrm>
          <a:prstGeom prst="rect">
            <a:avLst/>
          </a:prstGeom>
          <a:solidFill>
            <a:srgbClr val="23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22208" y="3262579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3081528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Deprecation calendar — auto JIRA tickets for EOL services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4453128"/>
            <a:ext cx="3310128" cy="1335024"/>
          </a:xfrm>
          <a:prstGeom prst="rect">
            <a:avLst/>
          </a:prstGeom>
          <a:solidFill>
            <a:srgbClr val="23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22208" y="4743907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4562856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Executive dashboard — monthly report of adopted innovations &amp; saved $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961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885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847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19809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3771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67733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191695" y="0"/>
            <a:ext cx="18288" cy="68580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1">
                <a:solidFill>
                  <a:srgbClr val="94A3B8"/>
                </a:solidFill>
              </a:rPr>
              <a:t>The tracker is live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Start using it this week.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9900"/>
                </a:solidFill>
              </a:rPr>
              <a:t>https://d1s77r5nnbdjdt.cloudfront.net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401568"/>
            <a:ext cx="3566160" cy="2267712"/>
          </a:xfrm>
          <a:prstGeom prst="rect">
            <a:avLst/>
          </a:prstGeom>
          <a:solidFill>
            <a:srgbClr val="1A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401568"/>
            <a:ext cx="3566160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5661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Try It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9319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Open the app, search for any service you manage, and find features you may have missed this quarter.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16552" y="3401568"/>
            <a:ext cx="3566160" cy="2267712"/>
          </a:xfrm>
          <a:prstGeom prst="rect">
            <a:avLst/>
          </a:prstGeom>
          <a:solidFill>
            <a:srgbClr val="1A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16552" y="3401568"/>
            <a:ext cx="3566160" cy="64008"/>
          </a:xfrm>
          <a:prstGeom prst="rect">
            <a:avLst/>
          </a:prstGeom>
          <a:solidFill>
            <a:srgbClr val="1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5661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Add Your Watchlist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39319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Tell us the top 10 AWS services your team owns — we'll prioritize those filters in the next sprint.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8744" y="3401568"/>
            <a:ext cx="3566160" cy="2267712"/>
          </a:xfrm>
          <a:prstGeom prst="rect">
            <a:avLst/>
          </a:prstGeom>
          <a:solidFill>
            <a:srgbClr val="1A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38744" y="3401568"/>
            <a:ext cx="356616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6" y="35661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Give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39319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What integrations, views, or alerts would make this tool indispensable to your daily workflow?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14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0" y="6455664"/>
            <a:ext cx="1219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AWS Features Tracker  ·  Lambda · Bedrock · DynamoDB · CloudFront  ·  ~$0.31/month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